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1" r:id="rId5"/>
    <p:sldId id="260" r:id="rId6"/>
    <p:sldId id="270" r:id="rId7"/>
    <p:sldId id="272" r:id="rId8"/>
    <p:sldId id="273" r:id="rId9"/>
    <p:sldId id="263" r:id="rId10"/>
    <p:sldId id="261" r:id="rId11"/>
    <p:sldId id="274" r:id="rId12"/>
    <p:sldId id="275" r:id="rId13"/>
    <p:sldId id="276" r:id="rId14"/>
    <p:sldId id="265" r:id="rId15"/>
    <p:sldId id="277" r:id="rId16"/>
    <p:sldId id="269" r:id="rId17"/>
  </p:sldIdLst>
  <p:sldSz cx="18288000" cy="10287000"/>
  <p:notesSz cx="6858000" cy="9144000"/>
  <p:embeddedFontLst>
    <p:embeddedFont>
      <p:font typeface="Cambria Math" panose="02040503050406030204" pitchFamily="18" charset="0"/>
      <p:regular r:id="rId18"/>
    </p:embeddedFont>
    <p:embeddedFont>
      <p:font typeface="Inter" panose="020B0604020202020204" charset="0"/>
      <p:regular r:id="rId19"/>
    </p:embeddedFont>
    <p:embeddedFont>
      <p:font typeface="Inter Bold" panose="020B0604020202020204" charset="0"/>
      <p:regular r:id="rId20"/>
    </p:embeddedFont>
    <p:embeddedFont>
      <p:font typeface="Inter Bold Italics" panose="020B0604020202020204" charset="0"/>
      <p:regular r:id="rId21"/>
    </p:embeddedFont>
    <p:embeddedFont>
      <p:font typeface="Inter Italics" panose="020B0604020202020204" charset="0"/>
      <p:regular r:id="rId22"/>
    </p:embeddedFont>
    <p:embeddedFont>
      <p:font typeface="Inter Medium"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8" d="100"/>
          <a:sy n="38" d="100"/>
        </p:scale>
        <p:origin x="1020" y="3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90.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1302355" y="7264162"/>
            <a:ext cx="15683290" cy="0"/>
          </a:xfrm>
          <a:prstGeom prst="line">
            <a:avLst/>
          </a:prstGeom>
          <a:ln w="38100" cap="flat">
            <a:solidFill>
              <a:srgbClr val="345C72">
                <a:alpha val="60000"/>
              </a:srgbClr>
            </a:solidFill>
            <a:prstDash val="solid"/>
            <a:headEnd type="none" w="sm" len="sm"/>
            <a:tailEnd type="none" w="sm" len="sm"/>
          </a:ln>
        </p:spPr>
      </p:sp>
      <p:sp>
        <p:nvSpPr>
          <p:cNvPr id="3" name="TextBox 3"/>
          <p:cNvSpPr txBox="1"/>
          <p:nvPr/>
        </p:nvSpPr>
        <p:spPr>
          <a:xfrm>
            <a:off x="1302355" y="4848883"/>
            <a:ext cx="15683290" cy="2089918"/>
          </a:xfrm>
          <a:prstGeom prst="rect">
            <a:avLst/>
          </a:prstGeom>
        </p:spPr>
        <p:txBody>
          <a:bodyPr lIns="0" tIns="0" rIns="0" bIns="0" rtlCol="0" anchor="t">
            <a:spAutoFit/>
          </a:bodyPr>
          <a:lstStyle/>
          <a:p>
            <a:pPr algn="l">
              <a:lnSpc>
                <a:spcPts val="8030"/>
              </a:lnSpc>
            </a:pPr>
            <a:r>
              <a:rPr lang="en-US" sz="8030" b="1">
                <a:solidFill>
                  <a:srgbClr val="1C3F60"/>
                </a:solidFill>
                <a:latin typeface="Inter Medium"/>
                <a:ea typeface="Inter Medium"/>
                <a:cs typeface="Inter Medium"/>
                <a:sym typeface="Inter Medium"/>
              </a:rPr>
              <a:t>Analysis of Network Structure in Large-scale Web Data in India</a:t>
            </a:r>
          </a:p>
        </p:txBody>
      </p:sp>
      <p:sp>
        <p:nvSpPr>
          <p:cNvPr id="4" name="TextBox 4"/>
          <p:cNvSpPr txBox="1"/>
          <p:nvPr/>
        </p:nvSpPr>
        <p:spPr>
          <a:xfrm>
            <a:off x="1302355" y="8548993"/>
            <a:ext cx="8457083" cy="293370"/>
          </a:xfrm>
          <a:prstGeom prst="rect">
            <a:avLst/>
          </a:prstGeom>
        </p:spPr>
        <p:txBody>
          <a:bodyPr lIns="0" tIns="0" rIns="0" bIns="0" rtlCol="0" anchor="t">
            <a:spAutoFit/>
          </a:bodyPr>
          <a:lstStyle/>
          <a:p>
            <a:pPr algn="just">
              <a:lnSpc>
                <a:spcPts val="2310"/>
              </a:lnSpc>
            </a:pPr>
            <a:r>
              <a:rPr lang="en-US" sz="2100">
                <a:solidFill>
                  <a:srgbClr val="0B1320"/>
                </a:solidFill>
                <a:latin typeface="Inter"/>
                <a:ea typeface="Inter"/>
                <a:cs typeface="Inter"/>
                <a:sym typeface="Inter"/>
              </a:rPr>
              <a:t>Presented by </a:t>
            </a:r>
            <a:r>
              <a:rPr lang="en-US" sz="2100" b="1">
                <a:solidFill>
                  <a:srgbClr val="0B1320"/>
                </a:solidFill>
                <a:latin typeface="Inter Bold"/>
                <a:ea typeface="Inter Bold"/>
                <a:cs typeface="Inter Bold"/>
                <a:sym typeface="Inter Bold"/>
              </a:rPr>
              <a:t>Bitan Majumder</a:t>
            </a:r>
          </a:p>
        </p:txBody>
      </p:sp>
      <p:sp>
        <p:nvSpPr>
          <p:cNvPr id="5" name="TextBox 5"/>
          <p:cNvSpPr txBox="1"/>
          <p:nvPr/>
        </p:nvSpPr>
        <p:spPr>
          <a:xfrm>
            <a:off x="2644794" y="1294086"/>
            <a:ext cx="2484104" cy="710438"/>
          </a:xfrm>
          <a:prstGeom prst="rect">
            <a:avLst/>
          </a:prstGeom>
        </p:spPr>
        <p:txBody>
          <a:bodyPr lIns="0" tIns="0" rIns="0" bIns="0" rtlCol="0" anchor="t">
            <a:spAutoFit/>
          </a:bodyPr>
          <a:lstStyle/>
          <a:p>
            <a:pPr algn="l">
              <a:lnSpc>
                <a:spcPts val="2716"/>
              </a:lnSpc>
            </a:pPr>
            <a:r>
              <a:rPr lang="en-US" sz="2800" b="1">
                <a:solidFill>
                  <a:srgbClr val="0B1320"/>
                </a:solidFill>
                <a:latin typeface="Inter Bold"/>
                <a:ea typeface="Inter Bold"/>
                <a:cs typeface="Inter Bold"/>
                <a:sym typeface="Inter Bold"/>
              </a:rPr>
              <a:t>Pondicherry University</a:t>
            </a:r>
          </a:p>
        </p:txBody>
      </p:sp>
      <p:sp>
        <p:nvSpPr>
          <p:cNvPr id="6" name="TextBox 6"/>
          <p:cNvSpPr txBox="1"/>
          <p:nvPr/>
        </p:nvSpPr>
        <p:spPr>
          <a:xfrm>
            <a:off x="1302355" y="8964930"/>
            <a:ext cx="8457083" cy="293370"/>
          </a:xfrm>
          <a:prstGeom prst="rect">
            <a:avLst/>
          </a:prstGeom>
        </p:spPr>
        <p:txBody>
          <a:bodyPr lIns="0" tIns="0" rIns="0" bIns="0" rtlCol="0" anchor="t">
            <a:spAutoFit/>
          </a:bodyPr>
          <a:lstStyle/>
          <a:p>
            <a:pPr algn="just">
              <a:lnSpc>
                <a:spcPts val="2310"/>
              </a:lnSpc>
            </a:pPr>
            <a:r>
              <a:rPr lang="en-US" sz="2100">
                <a:solidFill>
                  <a:srgbClr val="0B1320"/>
                </a:solidFill>
                <a:latin typeface="Inter"/>
                <a:ea typeface="Inter"/>
                <a:cs typeface="Inter"/>
                <a:sym typeface="Inter"/>
              </a:rPr>
              <a:t>Student ID: </a:t>
            </a:r>
            <a:r>
              <a:rPr lang="en-US" sz="2100" b="1">
                <a:solidFill>
                  <a:srgbClr val="0B1320"/>
                </a:solidFill>
                <a:latin typeface="Inter Bold"/>
                <a:ea typeface="Inter Bold"/>
                <a:cs typeface="Inter Bold"/>
                <a:sym typeface="Inter Bold"/>
              </a:rPr>
              <a:t>24MSCSCPY0005</a:t>
            </a:r>
          </a:p>
        </p:txBody>
      </p:sp>
      <p:sp>
        <p:nvSpPr>
          <p:cNvPr id="7" name="Freeform 7"/>
          <p:cNvSpPr/>
          <p:nvPr/>
        </p:nvSpPr>
        <p:spPr>
          <a:xfrm>
            <a:off x="1449512" y="1158054"/>
            <a:ext cx="893385" cy="925352"/>
          </a:xfrm>
          <a:custGeom>
            <a:avLst/>
            <a:gdLst/>
            <a:ahLst/>
            <a:cxnLst/>
            <a:rect l="l" t="t" r="r" b="b"/>
            <a:pathLst>
              <a:path w="893385" h="925352">
                <a:moveTo>
                  <a:pt x="0" y="0"/>
                </a:moveTo>
                <a:lnTo>
                  <a:pt x="893385" y="0"/>
                </a:lnTo>
                <a:lnTo>
                  <a:pt x="893385" y="925352"/>
                </a:lnTo>
                <a:lnTo>
                  <a:pt x="0" y="9253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4">
            <a:extLst>
              <a:ext uri="{FF2B5EF4-FFF2-40B4-BE49-F238E27FC236}">
                <a16:creationId xmlns:a16="http://schemas.microsoft.com/office/drawing/2014/main" id="{0CC01E0E-C0DC-61A2-9601-438CB66C8192}"/>
              </a:ext>
            </a:extLst>
          </p:cNvPr>
          <p:cNvSpPr txBox="1"/>
          <p:nvPr/>
        </p:nvSpPr>
        <p:spPr>
          <a:xfrm>
            <a:off x="12102644" y="8861413"/>
            <a:ext cx="4883001" cy="293370"/>
          </a:xfrm>
          <a:prstGeom prst="rect">
            <a:avLst/>
          </a:prstGeom>
        </p:spPr>
        <p:txBody>
          <a:bodyPr lIns="0" tIns="0" rIns="0" bIns="0" rtlCol="0" anchor="t">
            <a:spAutoFit/>
          </a:bodyPr>
          <a:lstStyle/>
          <a:p>
            <a:pPr algn="r">
              <a:lnSpc>
                <a:spcPts val="2310"/>
              </a:lnSpc>
            </a:pPr>
            <a:r>
              <a:rPr lang="en-US" sz="2100" dirty="0">
                <a:solidFill>
                  <a:srgbClr val="0B1320"/>
                </a:solidFill>
                <a:latin typeface="Inter"/>
                <a:ea typeface="Inter"/>
                <a:cs typeface="Inter"/>
                <a:sym typeface="Inter"/>
              </a:rPr>
              <a:t>23 February 2026</a:t>
            </a:r>
          </a:p>
        </p:txBody>
      </p:sp>
      <p:pic>
        <p:nvPicPr>
          <p:cNvPr id="1028" name="Picture 4" descr="Rajiv Gandhi Ayurveda Medical College &amp; Hospital">
            <a:extLst>
              <a:ext uri="{FF2B5EF4-FFF2-40B4-BE49-F238E27FC236}">
                <a16:creationId xmlns:a16="http://schemas.microsoft.com/office/drawing/2014/main" id="{5A11089A-AE4A-674B-C5DC-CE2DF1B96F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8269" y="915880"/>
            <a:ext cx="2571750" cy="140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08080" y="1610414"/>
            <a:ext cx="9208615" cy="1060451"/>
          </a:xfrm>
          <a:prstGeom prst="rect">
            <a:avLst/>
          </a:prstGeom>
        </p:spPr>
        <p:txBody>
          <a:bodyPr lIns="0" tIns="0" rIns="0" bIns="0" rtlCol="0" anchor="t">
            <a:spAutoFit/>
          </a:bodyPr>
          <a:lstStyle/>
          <a:p>
            <a:pPr marL="0" lvl="0" indent="0" algn="l">
              <a:lnSpc>
                <a:spcPts val="8000"/>
              </a:lnSpc>
              <a:spcBef>
                <a:spcPct val="0"/>
              </a:spcBef>
            </a:pPr>
            <a:r>
              <a:rPr lang="en-US" sz="8000">
                <a:solidFill>
                  <a:srgbClr val="1C3F60"/>
                </a:solidFill>
                <a:latin typeface="Inter"/>
                <a:ea typeface="Inter"/>
                <a:cs typeface="Inter"/>
                <a:sym typeface="Inter"/>
              </a:rPr>
              <a:t>Table of Contents</a:t>
            </a:r>
          </a:p>
        </p:txBody>
      </p:sp>
      <p:sp>
        <p:nvSpPr>
          <p:cNvPr id="3" name="AutoShape 3"/>
          <p:cNvSpPr/>
          <p:nvPr/>
        </p:nvSpPr>
        <p:spPr>
          <a:xfrm flipV="1">
            <a:off x="1302355" y="2967384"/>
            <a:ext cx="8335753" cy="0"/>
          </a:xfrm>
          <a:prstGeom prst="line">
            <a:avLst/>
          </a:prstGeom>
          <a:ln w="38100" cap="flat">
            <a:solidFill>
              <a:srgbClr val="345C72">
                <a:alpha val="60000"/>
              </a:srgbClr>
            </a:solidFill>
            <a:prstDash val="solid"/>
            <a:headEnd type="none" w="sm" len="sm"/>
            <a:tailEnd type="none" w="sm" len="sm"/>
          </a:ln>
        </p:spPr>
      </p:sp>
      <p:sp>
        <p:nvSpPr>
          <p:cNvPr id="4" name="TextBox 4"/>
          <p:cNvSpPr txBox="1"/>
          <p:nvPr/>
        </p:nvSpPr>
        <p:spPr>
          <a:xfrm>
            <a:off x="2570456" y="4920405"/>
            <a:ext cx="3790125" cy="344805"/>
          </a:xfrm>
          <a:prstGeom prst="rect">
            <a:avLst/>
          </a:prstGeom>
        </p:spPr>
        <p:txBody>
          <a:bodyPr lIns="0" tIns="0" rIns="0" bIns="0" rtlCol="0" anchor="t">
            <a:spAutoFit/>
          </a:bodyPr>
          <a:lstStyle/>
          <a:p>
            <a:pPr algn="l">
              <a:lnSpc>
                <a:spcPts val="2640"/>
              </a:lnSpc>
            </a:pPr>
            <a:r>
              <a:rPr lang="en-US" sz="2400" b="1">
                <a:solidFill>
                  <a:srgbClr val="1C3F60"/>
                </a:solidFill>
                <a:latin typeface="Inter Bold"/>
                <a:ea typeface="Inter Bold"/>
                <a:cs typeface="Inter Bold"/>
                <a:sym typeface="Inter Bold"/>
              </a:rPr>
              <a:t>Introduction</a:t>
            </a:r>
          </a:p>
        </p:txBody>
      </p:sp>
      <p:sp>
        <p:nvSpPr>
          <p:cNvPr id="5" name="TextBox 5"/>
          <p:cNvSpPr txBox="1"/>
          <p:nvPr/>
        </p:nvSpPr>
        <p:spPr>
          <a:xfrm>
            <a:off x="10412101" y="4923686"/>
            <a:ext cx="4506494" cy="344805"/>
          </a:xfrm>
          <a:prstGeom prst="rect">
            <a:avLst/>
          </a:prstGeom>
        </p:spPr>
        <p:txBody>
          <a:bodyPr lIns="0" tIns="0" rIns="0" bIns="0" rtlCol="0" anchor="t">
            <a:spAutoFit/>
          </a:bodyPr>
          <a:lstStyle/>
          <a:p>
            <a:pPr algn="l">
              <a:lnSpc>
                <a:spcPts val="2640"/>
              </a:lnSpc>
            </a:pPr>
            <a:r>
              <a:rPr lang="en-US" sz="2400" b="1">
                <a:solidFill>
                  <a:srgbClr val="1C3F60"/>
                </a:solidFill>
                <a:latin typeface="Inter Bold"/>
                <a:ea typeface="Inter Bold"/>
                <a:cs typeface="Inter Bold"/>
                <a:sym typeface="Inter Bold"/>
              </a:rPr>
              <a:t>Analytics and Observations</a:t>
            </a:r>
          </a:p>
        </p:txBody>
      </p:sp>
      <p:sp>
        <p:nvSpPr>
          <p:cNvPr id="6" name="TextBox 6"/>
          <p:cNvSpPr txBox="1"/>
          <p:nvPr/>
        </p:nvSpPr>
        <p:spPr>
          <a:xfrm>
            <a:off x="2570456" y="7259795"/>
            <a:ext cx="3790125" cy="344805"/>
          </a:xfrm>
          <a:prstGeom prst="rect">
            <a:avLst/>
          </a:prstGeom>
        </p:spPr>
        <p:txBody>
          <a:bodyPr lIns="0" tIns="0" rIns="0" bIns="0" rtlCol="0" anchor="t">
            <a:spAutoFit/>
          </a:bodyPr>
          <a:lstStyle/>
          <a:p>
            <a:pPr algn="l">
              <a:lnSpc>
                <a:spcPts val="2640"/>
              </a:lnSpc>
            </a:pPr>
            <a:r>
              <a:rPr lang="en-US" sz="2400" b="1">
                <a:solidFill>
                  <a:srgbClr val="1C3F60"/>
                </a:solidFill>
                <a:latin typeface="Inter Bold"/>
                <a:ea typeface="Inter Bold"/>
                <a:cs typeface="Inter Bold"/>
                <a:sym typeface="Inter Bold"/>
              </a:rPr>
              <a:t>Methodology</a:t>
            </a:r>
          </a:p>
        </p:txBody>
      </p:sp>
      <p:sp>
        <p:nvSpPr>
          <p:cNvPr id="7" name="TextBox 7"/>
          <p:cNvSpPr txBox="1"/>
          <p:nvPr/>
        </p:nvSpPr>
        <p:spPr>
          <a:xfrm>
            <a:off x="10412101" y="7263076"/>
            <a:ext cx="3790125" cy="344805"/>
          </a:xfrm>
          <a:prstGeom prst="rect">
            <a:avLst/>
          </a:prstGeom>
        </p:spPr>
        <p:txBody>
          <a:bodyPr lIns="0" tIns="0" rIns="0" bIns="0" rtlCol="0" anchor="t">
            <a:spAutoFit/>
          </a:bodyPr>
          <a:lstStyle/>
          <a:p>
            <a:pPr algn="l">
              <a:lnSpc>
                <a:spcPts val="2640"/>
              </a:lnSpc>
            </a:pPr>
            <a:r>
              <a:rPr lang="en-US" sz="2400" b="1">
                <a:solidFill>
                  <a:srgbClr val="1C3F60"/>
                </a:solidFill>
                <a:latin typeface="Inter Bold"/>
                <a:ea typeface="Inter Bold"/>
                <a:cs typeface="Inter Bold"/>
                <a:sym typeface="Inter Bold"/>
              </a:rPr>
              <a:t>Further Plans</a:t>
            </a:r>
          </a:p>
        </p:txBody>
      </p:sp>
      <p:sp>
        <p:nvSpPr>
          <p:cNvPr id="8" name="TextBox 8"/>
          <p:cNvSpPr txBox="1"/>
          <p:nvPr/>
        </p:nvSpPr>
        <p:spPr>
          <a:xfrm>
            <a:off x="2570456" y="5555576"/>
            <a:ext cx="5575946" cy="935355"/>
          </a:xfrm>
          <a:prstGeom prst="rect">
            <a:avLst/>
          </a:prstGeom>
        </p:spPr>
        <p:txBody>
          <a:bodyPr lIns="0" tIns="0" rIns="0" bIns="0" rtlCol="0" anchor="t">
            <a:spAutoFit/>
          </a:bodyPr>
          <a:lstStyle/>
          <a:p>
            <a:pPr marL="0" lvl="0" indent="0" algn="l">
              <a:lnSpc>
                <a:spcPts val="2520"/>
              </a:lnSpc>
              <a:spcBef>
                <a:spcPct val="0"/>
              </a:spcBef>
            </a:pPr>
            <a:r>
              <a:rPr lang="en-US" sz="1800" spc="-36">
                <a:solidFill>
                  <a:srgbClr val="1C191A"/>
                </a:solidFill>
                <a:latin typeface="Inter"/>
                <a:ea typeface="Inter"/>
                <a:cs typeface="Inter"/>
                <a:sym typeface="Inter"/>
              </a:rPr>
              <a:t>Definition of the Domain along with a detailed discussion of the problem statement and Data description. It also contains the features of the dataset.</a:t>
            </a:r>
          </a:p>
        </p:txBody>
      </p:sp>
      <p:sp>
        <p:nvSpPr>
          <p:cNvPr id="9" name="TextBox 9"/>
          <p:cNvSpPr txBox="1"/>
          <p:nvPr/>
        </p:nvSpPr>
        <p:spPr>
          <a:xfrm>
            <a:off x="10416695" y="5555576"/>
            <a:ext cx="5575946" cy="935355"/>
          </a:xfrm>
          <a:prstGeom prst="rect">
            <a:avLst/>
          </a:prstGeom>
        </p:spPr>
        <p:txBody>
          <a:bodyPr lIns="0" tIns="0" rIns="0" bIns="0" rtlCol="0" anchor="t">
            <a:spAutoFit/>
          </a:bodyPr>
          <a:lstStyle/>
          <a:p>
            <a:pPr marL="0" lvl="0" indent="0" algn="l">
              <a:lnSpc>
                <a:spcPts val="2520"/>
              </a:lnSpc>
              <a:spcBef>
                <a:spcPct val="0"/>
              </a:spcBef>
            </a:pPr>
            <a:r>
              <a:rPr lang="en-US" sz="1800" spc="-36" dirty="0">
                <a:solidFill>
                  <a:srgbClr val="1C191A"/>
                </a:solidFill>
                <a:latin typeface="Inter"/>
                <a:ea typeface="Inter"/>
                <a:cs typeface="Inter"/>
                <a:sym typeface="Inter"/>
              </a:rPr>
              <a:t>All the analytical results along with suitable diagrams are provided here. It also talks about the important observations that could be made from these results.</a:t>
            </a:r>
          </a:p>
        </p:txBody>
      </p:sp>
      <p:sp>
        <p:nvSpPr>
          <p:cNvPr id="10" name="TextBox 10"/>
          <p:cNvSpPr txBox="1"/>
          <p:nvPr/>
        </p:nvSpPr>
        <p:spPr>
          <a:xfrm>
            <a:off x="2570456" y="7893631"/>
            <a:ext cx="5575946" cy="935355"/>
          </a:xfrm>
          <a:prstGeom prst="rect">
            <a:avLst/>
          </a:prstGeom>
        </p:spPr>
        <p:txBody>
          <a:bodyPr lIns="0" tIns="0" rIns="0" bIns="0" rtlCol="0" anchor="t">
            <a:spAutoFit/>
          </a:bodyPr>
          <a:lstStyle/>
          <a:p>
            <a:pPr marL="0" lvl="0" indent="0" algn="l">
              <a:lnSpc>
                <a:spcPts val="2520"/>
              </a:lnSpc>
              <a:spcBef>
                <a:spcPct val="0"/>
              </a:spcBef>
            </a:pPr>
            <a:r>
              <a:rPr lang="en-US" sz="1800" spc="-36">
                <a:solidFill>
                  <a:srgbClr val="1C191A"/>
                </a:solidFill>
                <a:latin typeface="Inter"/>
                <a:ea typeface="Inter"/>
                <a:cs typeface="Inter"/>
                <a:sym typeface="Inter"/>
              </a:rPr>
              <a:t>This section contains the overview of the methodology that is being used in this project so far. It includes pre-processing steps, network structure development etc.</a:t>
            </a:r>
          </a:p>
        </p:txBody>
      </p:sp>
      <p:sp>
        <p:nvSpPr>
          <p:cNvPr id="11" name="TextBox 11"/>
          <p:cNvSpPr txBox="1"/>
          <p:nvPr/>
        </p:nvSpPr>
        <p:spPr>
          <a:xfrm>
            <a:off x="10416695" y="7893631"/>
            <a:ext cx="5575946" cy="306705"/>
          </a:xfrm>
          <a:prstGeom prst="rect">
            <a:avLst/>
          </a:prstGeom>
        </p:spPr>
        <p:txBody>
          <a:bodyPr lIns="0" tIns="0" rIns="0" bIns="0" rtlCol="0" anchor="t">
            <a:spAutoFit/>
          </a:bodyPr>
          <a:lstStyle/>
          <a:p>
            <a:pPr marL="0" lvl="0" indent="0" algn="l">
              <a:lnSpc>
                <a:spcPts val="2520"/>
              </a:lnSpc>
              <a:spcBef>
                <a:spcPct val="0"/>
              </a:spcBef>
            </a:pPr>
            <a:r>
              <a:rPr lang="en-US" sz="1800" spc="-36">
                <a:solidFill>
                  <a:srgbClr val="1C191A"/>
                </a:solidFill>
                <a:latin typeface="Inter"/>
                <a:ea typeface="Inter"/>
                <a:cs typeface="Inter"/>
                <a:sym typeface="Inter"/>
              </a:rPr>
              <a:t>It briefly describes the research idea ahead. </a:t>
            </a:r>
          </a:p>
        </p:txBody>
      </p:sp>
      <p:sp>
        <p:nvSpPr>
          <p:cNvPr id="12" name="Freeform 12"/>
          <p:cNvSpPr/>
          <p:nvPr/>
        </p:nvSpPr>
        <p:spPr>
          <a:xfrm rot="5400000">
            <a:off x="1028700" y="4906566"/>
            <a:ext cx="1207268" cy="1207268"/>
          </a:xfrm>
          <a:custGeom>
            <a:avLst/>
            <a:gdLst/>
            <a:ahLst/>
            <a:cxnLst/>
            <a:rect l="l" t="t" r="r" b="b"/>
            <a:pathLst>
              <a:path w="1207268" h="1207268">
                <a:moveTo>
                  <a:pt x="0" y="0"/>
                </a:moveTo>
                <a:lnTo>
                  <a:pt x="1207268" y="0"/>
                </a:lnTo>
                <a:lnTo>
                  <a:pt x="1207268" y="1207268"/>
                </a:lnTo>
                <a:lnTo>
                  <a:pt x="0" y="1207268"/>
                </a:lnTo>
                <a:lnTo>
                  <a:pt x="0" y="0"/>
                </a:lnTo>
                <a:close/>
              </a:path>
            </a:pathLst>
          </a:custGeom>
          <a:blipFill>
            <a:blip r:embed="rId2"/>
            <a:stretch>
              <a:fillRect t="-27701" b="-22392"/>
            </a:stretch>
          </a:blipFill>
        </p:spPr>
      </p:sp>
      <p:sp>
        <p:nvSpPr>
          <p:cNvPr id="13" name="Freeform 13"/>
          <p:cNvSpPr/>
          <p:nvPr/>
        </p:nvSpPr>
        <p:spPr>
          <a:xfrm rot="5400000">
            <a:off x="8860269" y="4906566"/>
            <a:ext cx="1207268" cy="1207268"/>
          </a:xfrm>
          <a:custGeom>
            <a:avLst/>
            <a:gdLst/>
            <a:ahLst/>
            <a:cxnLst/>
            <a:rect l="l" t="t" r="r" b="b"/>
            <a:pathLst>
              <a:path w="1207268" h="1207268">
                <a:moveTo>
                  <a:pt x="0" y="0"/>
                </a:moveTo>
                <a:lnTo>
                  <a:pt x="1207267" y="0"/>
                </a:lnTo>
                <a:lnTo>
                  <a:pt x="1207267" y="1207268"/>
                </a:lnTo>
                <a:lnTo>
                  <a:pt x="0" y="1207268"/>
                </a:lnTo>
                <a:lnTo>
                  <a:pt x="0" y="0"/>
                </a:lnTo>
                <a:close/>
              </a:path>
            </a:pathLst>
          </a:custGeom>
          <a:blipFill>
            <a:blip r:embed="rId2"/>
            <a:stretch>
              <a:fillRect t="-27701" b="-22392"/>
            </a:stretch>
          </a:blipFill>
        </p:spPr>
      </p:sp>
      <p:sp>
        <p:nvSpPr>
          <p:cNvPr id="14" name="Freeform 14"/>
          <p:cNvSpPr/>
          <p:nvPr/>
        </p:nvSpPr>
        <p:spPr>
          <a:xfrm rot="5400000">
            <a:off x="1028700" y="7245956"/>
            <a:ext cx="1207268" cy="1207268"/>
          </a:xfrm>
          <a:custGeom>
            <a:avLst/>
            <a:gdLst/>
            <a:ahLst/>
            <a:cxnLst/>
            <a:rect l="l" t="t" r="r" b="b"/>
            <a:pathLst>
              <a:path w="1207268" h="1207268">
                <a:moveTo>
                  <a:pt x="0" y="0"/>
                </a:moveTo>
                <a:lnTo>
                  <a:pt x="1207268" y="0"/>
                </a:lnTo>
                <a:lnTo>
                  <a:pt x="1207268" y="1207268"/>
                </a:lnTo>
                <a:lnTo>
                  <a:pt x="0" y="1207268"/>
                </a:lnTo>
                <a:lnTo>
                  <a:pt x="0" y="0"/>
                </a:lnTo>
                <a:close/>
              </a:path>
            </a:pathLst>
          </a:custGeom>
          <a:blipFill>
            <a:blip r:embed="rId2"/>
            <a:stretch>
              <a:fillRect t="-27701" b="-22392"/>
            </a:stretch>
          </a:blipFill>
        </p:spPr>
      </p:sp>
      <p:sp>
        <p:nvSpPr>
          <p:cNvPr id="15" name="Freeform 15"/>
          <p:cNvSpPr/>
          <p:nvPr/>
        </p:nvSpPr>
        <p:spPr>
          <a:xfrm rot="5400000">
            <a:off x="8860269" y="7245956"/>
            <a:ext cx="1207268" cy="1207268"/>
          </a:xfrm>
          <a:custGeom>
            <a:avLst/>
            <a:gdLst/>
            <a:ahLst/>
            <a:cxnLst/>
            <a:rect l="l" t="t" r="r" b="b"/>
            <a:pathLst>
              <a:path w="1207268" h="1207268">
                <a:moveTo>
                  <a:pt x="0" y="0"/>
                </a:moveTo>
                <a:lnTo>
                  <a:pt x="1207267" y="0"/>
                </a:lnTo>
                <a:lnTo>
                  <a:pt x="1207267" y="1207268"/>
                </a:lnTo>
                <a:lnTo>
                  <a:pt x="0" y="1207268"/>
                </a:lnTo>
                <a:lnTo>
                  <a:pt x="0" y="0"/>
                </a:lnTo>
                <a:close/>
              </a:path>
            </a:pathLst>
          </a:custGeom>
          <a:blipFill>
            <a:blip r:embed="rId2"/>
            <a:stretch>
              <a:fillRect t="-27701" b="-22392"/>
            </a:stretch>
          </a:blipFill>
        </p:spPr>
      </p:sp>
      <p:sp>
        <p:nvSpPr>
          <p:cNvPr id="16" name="TextBox 16"/>
          <p:cNvSpPr txBox="1"/>
          <p:nvPr/>
        </p:nvSpPr>
        <p:spPr>
          <a:xfrm>
            <a:off x="1127734" y="5365420"/>
            <a:ext cx="1009199" cy="327660"/>
          </a:xfrm>
          <a:prstGeom prst="rect">
            <a:avLst/>
          </a:prstGeom>
        </p:spPr>
        <p:txBody>
          <a:bodyPr lIns="0" tIns="0" rIns="0" bIns="0" rtlCol="0" anchor="t">
            <a:spAutoFit/>
          </a:bodyPr>
          <a:lstStyle/>
          <a:p>
            <a:pPr marL="0" lvl="0" indent="0" algn="ctr">
              <a:lnSpc>
                <a:spcPts val="2400"/>
              </a:lnSpc>
              <a:spcBef>
                <a:spcPct val="0"/>
              </a:spcBef>
            </a:pPr>
            <a:r>
              <a:rPr lang="en-US" sz="2400" b="1">
                <a:solidFill>
                  <a:srgbClr val="1C3F60"/>
                </a:solidFill>
                <a:latin typeface="Inter Bold"/>
                <a:ea typeface="Inter Bold"/>
                <a:cs typeface="Inter Bold"/>
                <a:sym typeface="Inter Bold"/>
              </a:rPr>
              <a:t>0</a:t>
            </a:r>
            <a:r>
              <a:rPr lang="en-US" sz="2400" b="1" u="none" strike="noStrike">
                <a:solidFill>
                  <a:srgbClr val="1C3F60"/>
                </a:solidFill>
                <a:latin typeface="Inter Bold"/>
                <a:ea typeface="Inter Bold"/>
                <a:cs typeface="Inter Bold"/>
                <a:sym typeface="Inter Bold"/>
              </a:rPr>
              <a:t>1</a:t>
            </a:r>
          </a:p>
        </p:txBody>
      </p:sp>
      <p:sp>
        <p:nvSpPr>
          <p:cNvPr id="17" name="TextBox 17"/>
          <p:cNvSpPr txBox="1"/>
          <p:nvPr/>
        </p:nvSpPr>
        <p:spPr>
          <a:xfrm>
            <a:off x="8959303" y="5365420"/>
            <a:ext cx="1009199" cy="327660"/>
          </a:xfrm>
          <a:prstGeom prst="rect">
            <a:avLst/>
          </a:prstGeom>
        </p:spPr>
        <p:txBody>
          <a:bodyPr lIns="0" tIns="0" rIns="0" bIns="0" rtlCol="0" anchor="t">
            <a:spAutoFit/>
          </a:bodyPr>
          <a:lstStyle/>
          <a:p>
            <a:pPr marL="0" lvl="0" indent="0" algn="ctr">
              <a:lnSpc>
                <a:spcPts val="2400"/>
              </a:lnSpc>
              <a:spcBef>
                <a:spcPct val="0"/>
              </a:spcBef>
            </a:pPr>
            <a:r>
              <a:rPr lang="en-US" sz="2400" b="1">
                <a:solidFill>
                  <a:srgbClr val="1C3F60"/>
                </a:solidFill>
                <a:latin typeface="Inter Bold"/>
                <a:ea typeface="Inter Bold"/>
                <a:cs typeface="Inter Bold"/>
                <a:sym typeface="Inter Bold"/>
              </a:rPr>
              <a:t>03</a:t>
            </a:r>
          </a:p>
        </p:txBody>
      </p:sp>
      <p:sp>
        <p:nvSpPr>
          <p:cNvPr id="18" name="TextBox 18"/>
          <p:cNvSpPr txBox="1"/>
          <p:nvPr/>
        </p:nvSpPr>
        <p:spPr>
          <a:xfrm>
            <a:off x="1127734" y="7704810"/>
            <a:ext cx="1009199" cy="327660"/>
          </a:xfrm>
          <a:prstGeom prst="rect">
            <a:avLst/>
          </a:prstGeom>
        </p:spPr>
        <p:txBody>
          <a:bodyPr lIns="0" tIns="0" rIns="0" bIns="0" rtlCol="0" anchor="t">
            <a:spAutoFit/>
          </a:bodyPr>
          <a:lstStyle/>
          <a:p>
            <a:pPr marL="0" lvl="0" indent="0" algn="ctr">
              <a:lnSpc>
                <a:spcPts val="2400"/>
              </a:lnSpc>
              <a:spcBef>
                <a:spcPct val="0"/>
              </a:spcBef>
            </a:pPr>
            <a:r>
              <a:rPr lang="en-US" sz="2400" b="1">
                <a:solidFill>
                  <a:srgbClr val="1C3F60"/>
                </a:solidFill>
                <a:latin typeface="Inter Bold"/>
                <a:ea typeface="Inter Bold"/>
                <a:cs typeface="Inter Bold"/>
                <a:sym typeface="Inter Bold"/>
              </a:rPr>
              <a:t>02</a:t>
            </a:r>
          </a:p>
        </p:txBody>
      </p:sp>
      <p:sp>
        <p:nvSpPr>
          <p:cNvPr id="19" name="TextBox 19"/>
          <p:cNvSpPr txBox="1"/>
          <p:nvPr/>
        </p:nvSpPr>
        <p:spPr>
          <a:xfrm>
            <a:off x="8959303" y="7704810"/>
            <a:ext cx="1009199" cy="327660"/>
          </a:xfrm>
          <a:prstGeom prst="rect">
            <a:avLst/>
          </a:prstGeom>
        </p:spPr>
        <p:txBody>
          <a:bodyPr lIns="0" tIns="0" rIns="0" bIns="0" rtlCol="0" anchor="t">
            <a:spAutoFit/>
          </a:bodyPr>
          <a:lstStyle/>
          <a:p>
            <a:pPr marL="0" lvl="0" indent="0" algn="ctr">
              <a:lnSpc>
                <a:spcPts val="2400"/>
              </a:lnSpc>
              <a:spcBef>
                <a:spcPct val="0"/>
              </a:spcBef>
            </a:pPr>
            <a:r>
              <a:rPr lang="en-US" sz="2400" b="1">
                <a:solidFill>
                  <a:srgbClr val="1C3F60"/>
                </a:solidFill>
                <a:latin typeface="Inter Bold"/>
                <a:ea typeface="Inter Bold"/>
                <a:cs typeface="Inter Bold"/>
                <a:sym typeface="Inter Bold"/>
              </a:rPr>
              <a:t>04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3" name="Group 3"/>
          <p:cNvGrpSpPr/>
          <p:nvPr/>
        </p:nvGrpSpPr>
        <p:grpSpPr>
          <a:xfrm>
            <a:off x="9037868" y="0"/>
            <a:ext cx="9250132" cy="10287000"/>
            <a:chOff x="0" y="0"/>
            <a:chExt cx="1433087" cy="1593725"/>
          </a:xfrm>
        </p:grpSpPr>
        <p:sp>
          <p:nvSpPr>
            <p:cNvPr id="4" name="Freeform 4"/>
            <p:cNvSpPr/>
            <p:nvPr/>
          </p:nvSpPr>
          <p:spPr>
            <a:xfrm>
              <a:off x="0" y="0"/>
              <a:ext cx="1433087" cy="1593725"/>
            </a:xfrm>
            <a:custGeom>
              <a:avLst/>
              <a:gdLst/>
              <a:ahLst/>
              <a:cxnLst/>
              <a:rect l="l" t="t" r="r" b="b"/>
              <a:pathLst>
                <a:path w="1433087" h="1593725">
                  <a:moveTo>
                    <a:pt x="0" y="0"/>
                  </a:moveTo>
                  <a:lnTo>
                    <a:pt x="1433087" y="0"/>
                  </a:lnTo>
                  <a:lnTo>
                    <a:pt x="1433087" y="1593725"/>
                  </a:lnTo>
                  <a:lnTo>
                    <a:pt x="0" y="1593725"/>
                  </a:lnTo>
                  <a:close/>
                </a:path>
              </a:pathLst>
            </a:custGeom>
            <a:blipFill>
              <a:blip r:embed="rId3"/>
              <a:stretch>
                <a:fillRect l="-5807" r="-5807"/>
              </a:stretch>
            </a:blipFill>
          </p:spPr>
        </p:sp>
      </p:grpSp>
      <p:grpSp>
        <p:nvGrpSpPr>
          <p:cNvPr id="5" name="Group 5"/>
          <p:cNvGrpSpPr/>
          <p:nvPr/>
        </p:nvGrpSpPr>
        <p:grpSpPr>
          <a:xfrm>
            <a:off x="1028700" y="1250361"/>
            <a:ext cx="11110910" cy="7786279"/>
            <a:chOff x="0" y="0"/>
            <a:chExt cx="1177628" cy="825256"/>
          </a:xfrm>
        </p:grpSpPr>
        <p:sp>
          <p:nvSpPr>
            <p:cNvPr id="6" name="Freeform 6"/>
            <p:cNvSpPr/>
            <p:nvPr/>
          </p:nvSpPr>
          <p:spPr>
            <a:xfrm>
              <a:off x="0" y="0"/>
              <a:ext cx="1177628" cy="825256"/>
            </a:xfrm>
            <a:custGeom>
              <a:avLst/>
              <a:gdLst/>
              <a:ahLst/>
              <a:cxnLst/>
              <a:rect l="l" t="t" r="r" b="b"/>
              <a:pathLst>
                <a:path w="1177628" h="825256">
                  <a:moveTo>
                    <a:pt x="4355" y="0"/>
                  </a:moveTo>
                  <a:lnTo>
                    <a:pt x="1173273" y="0"/>
                  </a:lnTo>
                  <a:cubicBezTo>
                    <a:pt x="1174428" y="0"/>
                    <a:pt x="1175536" y="459"/>
                    <a:pt x="1176353" y="1276"/>
                  </a:cubicBezTo>
                  <a:cubicBezTo>
                    <a:pt x="1177169" y="2092"/>
                    <a:pt x="1177628" y="3200"/>
                    <a:pt x="1177628" y="4355"/>
                  </a:cubicBezTo>
                  <a:lnTo>
                    <a:pt x="1177628" y="820901"/>
                  </a:lnTo>
                  <a:cubicBezTo>
                    <a:pt x="1177628" y="822056"/>
                    <a:pt x="1177169" y="823163"/>
                    <a:pt x="1176353" y="823980"/>
                  </a:cubicBezTo>
                  <a:cubicBezTo>
                    <a:pt x="1175536" y="824797"/>
                    <a:pt x="1174428" y="825256"/>
                    <a:pt x="1173273" y="825256"/>
                  </a:cubicBezTo>
                  <a:lnTo>
                    <a:pt x="4355" y="825256"/>
                  </a:lnTo>
                  <a:cubicBezTo>
                    <a:pt x="1950" y="825256"/>
                    <a:pt x="0" y="823306"/>
                    <a:pt x="0" y="820901"/>
                  </a:cubicBezTo>
                  <a:lnTo>
                    <a:pt x="0" y="4355"/>
                  </a:lnTo>
                  <a:cubicBezTo>
                    <a:pt x="0" y="3200"/>
                    <a:pt x="459" y="2092"/>
                    <a:pt x="1276" y="1276"/>
                  </a:cubicBezTo>
                  <a:cubicBezTo>
                    <a:pt x="2092" y="459"/>
                    <a:pt x="3200" y="0"/>
                    <a:pt x="4355" y="0"/>
                  </a:cubicBezTo>
                  <a:close/>
                </a:path>
              </a:pathLst>
            </a:custGeom>
            <a:solidFill>
              <a:srgbClr val="FFFFFF"/>
            </a:solidFill>
          </p:spPr>
        </p:sp>
        <p:sp>
          <p:nvSpPr>
            <p:cNvPr id="7" name="TextBox 7"/>
            <p:cNvSpPr txBox="1"/>
            <p:nvPr/>
          </p:nvSpPr>
          <p:spPr>
            <a:xfrm>
              <a:off x="0" y="-38100"/>
              <a:ext cx="1177628" cy="863356"/>
            </a:xfrm>
            <a:prstGeom prst="rect">
              <a:avLst/>
            </a:prstGeom>
          </p:spPr>
          <p:txBody>
            <a:bodyPr lIns="50800" tIns="50800" rIns="50800" bIns="50800" rtlCol="0" anchor="ctr"/>
            <a:lstStyle/>
            <a:p>
              <a:pPr algn="ctr">
                <a:lnSpc>
                  <a:spcPts val="2799"/>
                </a:lnSpc>
              </a:pPr>
              <a:endParaRPr/>
            </a:p>
          </p:txBody>
        </p:sp>
      </p:grpSp>
      <p:sp>
        <p:nvSpPr>
          <p:cNvPr id="8" name="AutoShape 8"/>
          <p:cNvSpPr/>
          <p:nvPr/>
        </p:nvSpPr>
        <p:spPr>
          <a:xfrm>
            <a:off x="2201858" y="3901843"/>
            <a:ext cx="5681666" cy="0"/>
          </a:xfrm>
          <a:prstGeom prst="line">
            <a:avLst/>
          </a:prstGeom>
          <a:ln w="38100" cap="flat">
            <a:solidFill>
              <a:srgbClr val="345C72">
                <a:alpha val="60000"/>
              </a:srgbClr>
            </a:solidFill>
            <a:prstDash val="solid"/>
            <a:headEnd type="none" w="sm" len="sm"/>
            <a:tailEnd type="none" w="sm" len="sm"/>
          </a:ln>
        </p:spPr>
      </p:sp>
      <p:sp>
        <p:nvSpPr>
          <p:cNvPr id="9" name="TextBox 9"/>
          <p:cNvSpPr txBox="1"/>
          <p:nvPr/>
        </p:nvSpPr>
        <p:spPr>
          <a:xfrm>
            <a:off x="2201858" y="5385203"/>
            <a:ext cx="9193378" cy="3159125"/>
          </a:xfrm>
          <a:prstGeom prst="rect">
            <a:avLst/>
          </a:prstGeom>
        </p:spPr>
        <p:txBody>
          <a:bodyPr lIns="0" tIns="0" rIns="0" bIns="0" rtlCol="0" anchor="t">
            <a:spAutoFit/>
          </a:bodyPr>
          <a:lstStyle/>
          <a:p>
            <a:pPr marL="0" lvl="0" indent="0" algn="just">
              <a:lnSpc>
                <a:spcPts val="2799"/>
              </a:lnSpc>
              <a:spcBef>
                <a:spcPct val="0"/>
              </a:spcBef>
            </a:pPr>
            <a:r>
              <a:rPr lang="en-US" sz="1999" spc="-39">
                <a:solidFill>
                  <a:srgbClr val="1C191A"/>
                </a:solidFill>
                <a:latin typeface="Inter"/>
                <a:ea typeface="Inter"/>
                <a:cs typeface="Inter"/>
                <a:sym typeface="Inter"/>
              </a:rPr>
              <a:t>Computational Social Science (CSS) is an interdisciplinary field that investigates social phenomena by applying advanced algorithmic methods to massive, digitized datasets. Within this framework, Social Network Analysis (SNA) serves as a foundational pillar by providing the mathematical and structural logic needed to map the complex web of relationships that define human systems. While other CSS domains might focus on individual sentiment or behavior, SNA leverages the field’s computational power to move beyond the individual, uncovering the hidden topologies and influence patterns that govern how information and social capital flow across global scales.</a:t>
            </a:r>
          </a:p>
        </p:txBody>
      </p:sp>
      <p:sp>
        <p:nvSpPr>
          <p:cNvPr id="10" name="TextBox 10"/>
          <p:cNvSpPr txBox="1"/>
          <p:nvPr/>
        </p:nvSpPr>
        <p:spPr>
          <a:xfrm>
            <a:off x="2201858" y="2479442"/>
            <a:ext cx="7486517" cy="1060451"/>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1C3F60"/>
                </a:solidFill>
                <a:latin typeface="Inter"/>
                <a:ea typeface="Inter"/>
                <a:cs typeface="Inter"/>
                <a:sym typeface="Inter"/>
              </a:rPr>
              <a:t>Introduction</a:t>
            </a:r>
          </a:p>
        </p:txBody>
      </p:sp>
      <p:sp>
        <p:nvSpPr>
          <p:cNvPr id="11" name="TextBox 11"/>
          <p:cNvSpPr txBox="1"/>
          <p:nvPr/>
        </p:nvSpPr>
        <p:spPr>
          <a:xfrm>
            <a:off x="2201858" y="4292368"/>
            <a:ext cx="7592648" cy="788035"/>
          </a:xfrm>
          <a:prstGeom prst="rect">
            <a:avLst/>
          </a:prstGeom>
        </p:spPr>
        <p:txBody>
          <a:bodyPr lIns="0" tIns="0" rIns="0" bIns="0" rtlCol="0" anchor="t">
            <a:spAutoFit/>
          </a:bodyPr>
          <a:lstStyle/>
          <a:p>
            <a:pPr algn="l">
              <a:lnSpc>
                <a:spcPts val="3079"/>
              </a:lnSpc>
            </a:pPr>
            <a:r>
              <a:rPr lang="en-US" sz="2799" b="1">
                <a:solidFill>
                  <a:srgbClr val="1C3F60"/>
                </a:solidFill>
                <a:latin typeface="Inter Bold"/>
                <a:ea typeface="Inter Bold"/>
                <a:cs typeface="Inter Bold"/>
                <a:sym typeface="Inter Bold"/>
              </a:rPr>
              <a:t>Social Network Analysis as a pillar of Computational Social Science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6DBB48F5-68A5-69C6-41C0-8FB007D08CB5}"/>
              </a:ext>
            </a:extLst>
          </p:cNvPr>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sp>
        <p:nvSpPr>
          <p:cNvPr id="3" name="TextBox 2"/>
          <p:cNvSpPr txBox="1"/>
          <p:nvPr/>
        </p:nvSpPr>
        <p:spPr>
          <a:xfrm>
            <a:off x="1028700" y="1252537"/>
            <a:ext cx="7306101" cy="397510"/>
          </a:xfrm>
          <a:prstGeom prst="rect">
            <a:avLst/>
          </a:prstGeom>
        </p:spPr>
        <p:txBody>
          <a:bodyPr lIns="0" tIns="0" rIns="0" bIns="0" rtlCol="0" anchor="t">
            <a:spAutoFit/>
          </a:bodyPr>
          <a:lstStyle/>
          <a:p>
            <a:pPr algn="l">
              <a:lnSpc>
                <a:spcPts val="3079"/>
              </a:lnSpc>
            </a:pPr>
            <a:r>
              <a:rPr lang="en-US" sz="2799" b="1">
                <a:solidFill>
                  <a:srgbClr val="1C3F60"/>
                </a:solidFill>
                <a:latin typeface="Inter Bold"/>
                <a:ea typeface="Inter Bold"/>
                <a:cs typeface="Inter Bold"/>
                <a:sym typeface="Inter Bold"/>
              </a:rPr>
              <a:t>Data Description and Discussion</a:t>
            </a:r>
          </a:p>
        </p:txBody>
      </p:sp>
      <p:sp>
        <p:nvSpPr>
          <p:cNvPr id="4" name="TextBox 3"/>
          <p:cNvSpPr txBox="1"/>
          <p:nvPr/>
        </p:nvSpPr>
        <p:spPr>
          <a:xfrm>
            <a:off x="1028700" y="1946632"/>
            <a:ext cx="16230600" cy="2101965"/>
          </a:xfrm>
          <a:prstGeom prst="rect">
            <a:avLst/>
          </a:prstGeom>
        </p:spPr>
        <p:txBody>
          <a:bodyPr lIns="0" tIns="0" rIns="0" bIns="0" rtlCol="0" anchor="t">
            <a:spAutoFit/>
          </a:bodyPr>
          <a:lstStyle/>
          <a:p>
            <a:pPr algn="just">
              <a:lnSpc>
                <a:spcPts val="2793"/>
              </a:lnSpc>
            </a:pPr>
            <a:r>
              <a:rPr lang="en-US" sz="1995" spc="-39">
                <a:solidFill>
                  <a:srgbClr val="1C191A"/>
                </a:solidFill>
                <a:latin typeface="Inter"/>
                <a:ea typeface="Inter"/>
                <a:cs typeface="Inter"/>
                <a:sym typeface="Inter"/>
              </a:rPr>
              <a:t>The theme of my project is the analysis of social media data based in Indian-context using network structures. For this purpose, I have taken up the incident of </a:t>
            </a:r>
            <a:r>
              <a:rPr lang="en-US" sz="1995" b="1" i="1" spc="-39">
                <a:solidFill>
                  <a:srgbClr val="1C191A"/>
                </a:solidFill>
                <a:latin typeface="Inter Bold Italics"/>
                <a:ea typeface="Inter Bold Italics"/>
                <a:cs typeface="Inter Bold Italics"/>
                <a:sym typeface="Inter Bold Italics"/>
              </a:rPr>
              <a:t>Pahalgam attack</a:t>
            </a:r>
            <a:r>
              <a:rPr lang="en-US" sz="1995" spc="-39">
                <a:solidFill>
                  <a:srgbClr val="1C191A"/>
                </a:solidFill>
                <a:latin typeface="Inter"/>
                <a:ea typeface="Inter"/>
                <a:cs typeface="Inter"/>
                <a:sym typeface="Inter"/>
              </a:rPr>
              <a:t>. The Pahalgam attack took place on </a:t>
            </a:r>
            <a:r>
              <a:rPr lang="en-US" sz="1995" u="sng" spc="-39">
                <a:solidFill>
                  <a:srgbClr val="1C191A"/>
                </a:solidFill>
                <a:latin typeface="Inter"/>
                <a:ea typeface="Inter"/>
                <a:cs typeface="Inter"/>
                <a:sym typeface="Inter"/>
              </a:rPr>
              <a:t>April 22nd, 2025</a:t>
            </a:r>
            <a:r>
              <a:rPr lang="en-US" sz="1995" spc="-39">
                <a:solidFill>
                  <a:srgbClr val="1C191A"/>
                </a:solidFill>
                <a:latin typeface="Inter"/>
                <a:ea typeface="Inter"/>
                <a:cs typeface="Inter"/>
                <a:sym typeface="Inter"/>
              </a:rPr>
              <a:t>. 7 days after the attack, around </a:t>
            </a:r>
            <a:r>
              <a:rPr lang="en-US" sz="1995" b="1" spc="-39">
                <a:solidFill>
                  <a:srgbClr val="1C191A"/>
                </a:solidFill>
                <a:latin typeface="Inter Bold"/>
                <a:ea typeface="Inter Bold"/>
                <a:cs typeface="Inter Bold"/>
                <a:sym typeface="Inter Bold"/>
              </a:rPr>
              <a:t>12500 tweets</a:t>
            </a:r>
            <a:r>
              <a:rPr lang="en-US" sz="1995" spc="-39">
                <a:solidFill>
                  <a:srgbClr val="1C191A"/>
                </a:solidFill>
                <a:latin typeface="Inter"/>
                <a:ea typeface="Inter"/>
                <a:cs typeface="Inter"/>
                <a:sym typeface="Inter"/>
              </a:rPr>
              <a:t> were collected from X (formerly Twitter) using scraping method. This is the dataset of my task. The dataset has </a:t>
            </a:r>
            <a:r>
              <a:rPr lang="en-US" sz="1995" i="1" spc="-39">
                <a:solidFill>
                  <a:srgbClr val="1C191A"/>
                </a:solidFill>
                <a:latin typeface="Inter Italics"/>
                <a:ea typeface="Inter Italics"/>
                <a:cs typeface="Inter Italics"/>
                <a:sym typeface="Inter Italics"/>
              </a:rPr>
              <a:t>30 columns</a:t>
            </a:r>
            <a:r>
              <a:rPr lang="en-US" sz="1995" spc="-39">
                <a:solidFill>
                  <a:srgbClr val="1C191A"/>
                </a:solidFill>
                <a:latin typeface="Inter"/>
                <a:ea typeface="Inter"/>
                <a:cs typeface="Inter"/>
                <a:sym typeface="Inter"/>
              </a:rPr>
              <a:t>, including </a:t>
            </a:r>
            <a:r>
              <a:rPr lang="en-US" sz="1995" i="1" spc="-39">
                <a:solidFill>
                  <a:srgbClr val="1C191A"/>
                </a:solidFill>
                <a:latin typeface="Inter Italics"/>
                <a:ea typeface="Inter Italics"/>
                <a:cs typeface="Inter Italics"/>
                <a:sym typeface="Inter Italics"/>
              </a:rPr>
              <a:t>tweet_id</a:t>
            </a:r>
            <a:r>
              <a:rPr lang="en-US" sz="1995" spc="-39">
                <a:solidFill>
                  <a:srgbClr val="1C191A"/>
                </a:solidFill>
                <a:latin typeface="Inter"/>
                <a:ea typeface="Inter"/>
                <a:cs typeface="Inter"/>
                <a:sym typeface="Inter"/>
              </a:rPr>
              <a:t>, </a:t>
            </a:r>
            <a:r>
              <a:rPr lang="en-US" sz="1995" i="1" spc="-39">
                <a:solidFill>
                  <a:srgbClr val="1C191A"/>
                </a:solidFill>
                <a:latin typeface="Inter Italics"/>
                <a:ea typeface="Inter Italics"/>
                <a:cs typeface="Inter Italics"/>
                <a:sym typeface="Inter Italics"/>
              </a:rPr>
              <a:t>author_id</a:t>
            </a:r>
            <a:r>
              <a:rPr lang="en-US" sz="1995" spc="-39">
                <a:solidFill>
                  <a:srgbClr val="1C191A"/>
                </a:solidFill>
                <a:latin typeface="Inter"/>
                <a:ea typeface="Inter"/>
                <a:cs typeface="Inter"/>
                <a:sym typeface="Inter"/>
              </a:rPr>
              <a:t>, </a:t>
            </a:r>
            <a:r>
              <a:rPr lang="en-US" sz="1995" i="1" spc="-39">
                <a:solidFill>
                  <a:srgbClr val="1C191A"/>
                </a:solidFill>
                <a:latin typeface="Inter Italics"/>
                <a:ea typeface="Inter Italics"/>
                <a:cs typeface="Inter Italics"/>
                <a:sym typeface="Inter Italics"/>
              </a:rPr>
              <a:t>creation time</a:t>
            </a:r>
            <a:r>
              <a:rPr lang="en-US" sz="1995" spc="-39">
                <a:solidFill>
                  <a:srgbClr val="1C191A"/>
                </a:solidFill>
                <a:latin typeface="Inter"/>
                <a:ea typeface="Inter"/>
                <a:cs typeface="Inter"/>
                <a:sym typeface="Inter"/>
              </a:rPr>
              <a:t>, </a:t>
            </a:r>
            <a:r>
              <a:rPr lang="en-US" sz="1995" i="1" spc="-39">
                <a:solidFill>
                  <a:srgbClr val="1C191A"/>
                </a:solidFill>
                <a:latin typeface="Inter Italics"/>
                <a:ea typeface="Inter Italics"/>
                <a:cs typeface="Inter Italics"/>
                <a:sym typeface="Inter Italics"/>
              </a:rPr>
              <a:t>language</a:t>
            </a:r>
            <a:r>
              <a:rPr lang="en-US" sz="1995" spc="-39">
                <a:solidFill>
                  <a:srgbClr val="1C191A"/>
                </a:solidFill>
                <a:latin typeface="Inter"/>
                <a:ea typeface="Inter"/>
                <a:cs typeface="Inter"/>
                <a:sym typeface="Inter"/>
              </a:rPr>
              <a:t>, </a:t>
            </a:r>
            <a:r>
              <a:rPr lang="en-US" sz="1995" i="1" spc="-39">
                <a:solidFill>
                  <a:srgbClr val="1C191A"/>
                </a:solidFill>
                <a:latin typeface="Inter Italics"/>
                <a:ea typeface="Inter Italics"/>
                <a:cs typeface="Inter Italics"/>
                <a:sym typeface="Inter Italics"/>
              </a:rPr>
              <a:t>text</a:t>
            </a:r>
            <a:r>
              <a:rPr lang="en-US" sz="1995" spc="-39">
                <a:solidFill>
                  <a:srgbClr val="1C191A"/>
                </a:solidFill>
                <a:latin typeface="Inter"/>
                <a:ea typeface="Inter"/>
                <a:cs typeface="Inter"/>
                <a:sym typeface="Inter"/>
              </a:rPr>
              <a:t>, </a:t>
            </a:r>
            <a:r>
              <a:rPr lang="en-US" sz="1995" i="1" spc="-39">
                <a:solidFill>
                  <a:srgbClr val="1C191A"/>
                </a:solidFill>
                <a:latin typeface="Inter Italics"/>
                <a:ea typeface="Inter Italics"/>
                <a:cs typeface="Inter Italics"/>
                <a:sym typeface="Inter Italics"/>
              </a:rPr>
              <a:t>likes</a:t>
            </a:r>
            <a:r>
              <a:rPr lang="en-US" sz="1995" spc="-39">
                <a:solidFill>
                  <a:srgbClr val="1C191A"/>
                </a:solidFill>
                <a:latin typeface="Inter"/>
                <a:ea typeface="Inter"/>
                <a:cs typeface="Inter"/>
                <a:sym typeface="Inter"/>
              </a:rPr>
              <a:t>, </a:t>
            </a:r>
            <a:r>
              <a:rPr lang="en-US" sz="1995" i="1" spc="-39">
                <a:solidFill>
                  <a:srgbClr val="1C191A"/>
                </a:solidFill>
                <a:latin typeface="Inter Italics"/>
                <a:ea typeface="Inter Italics"/>
                <a:cs typeface="Inter Italics"/>
                <a:sym typeface="Inter Italics"/>
              </a:rPr>
              <a:t>replies </a:t>
            </a:r>
            <a:r>
              <a:rPr lang="en-US" sz="1995" spc="-39">
                <a:solidFill>
                  <a:srgbClr val="1C191A"/>
                </a:solidFill>
                <a:latin typeface="Inter"/>
                <a:ea typeface="Inter"/>
                <a:cs typeface="Inter"/>
                <a:sym typeface="Inter"/>
              </a:rPr>
              <a:t>etc. To make a qualitative analysis of the tweets I handpicked </a:t>
            </a:r>
            <a:r>
              <a:rPr lang="en-US" sz="1995" u="sng" spc="-39">
                <a:solidFill>
                  <a:srgbClr val="1C191A"/>
                </a:solidFill>
                <a:latin typeface="Inter"/>
                <a:ea typeface="Inter"/>
                <a:cs typeface="Inter"/>
                <a:sym typeface="Inter"/>
              </a:rPr>
              <a:t>150 tweets</a:t>
            </a:r>
            <a:r>
              <a:rPr lang="en-US" sz="1995" spc="-39">
                <a:solidFill>
                  <a:srgbClr val="1C191A"/>
                </a:solidFill>
                <a:latin typeface="Inter"/>
                <a:ea typeface="Inter"/>
                <a:cs typeface="Inter"/>
                <a:sym typeface="Inter"/>
              </a:rPr>
              <a:t> randomly and went through them to understand the sentiment of the tweets. </a:t>
            </a:r>
          </a:p>
          <a:p>
            <a:pPr marL="0" lvl="0" indent="0" algn="just">
              <a:lnSpc>
                <a:spcPts val="2793"/>
              </a:lnSpc>
              <a:spcBef>
                <a:spcPct val="0"/>
              </a:spcBef>
            </a:pPr>
            <a:endParaRPr lang="en-US" sz="1995" spc="-39">
              <a:solidFill>
                <a:srgbClr val="1C191A"/>
              </a:solidFill>
              <a:latin typeface="Inter"/>
              <a:ea typeface="Inter"/>
              <a:cs typeface="Inter"/>
              <a:sym typeface="Inter"/>
            </a:endParaRPr>
          </a:p>
        </p:txBody>
      </p:sp>
      <p:sp>
        <p:nvSpPr>
          <p:cNvPr id="5" name="TextBox 4"/>
          <p:cNvSpPr txBox="1"/>
          <p:nvPr/>
        </p:nvSpPr>
        <p:spPr>
          <a:xfrm>
            <a:off x="1028700" y="4077172"/>
            <a:ext cx="7306101" cy="397510"/>
          </a:xfrm>
          <a:prstGeom prst="rect">
            <a:avLst/>
          </a:prstGeom>
        </p:spPr>
        <p:txBody>
          <a:bodyPr lIns="0" tIns="0" rIns="0" bIns="0" rtlCol="0" anchor="t">
            <a:spAutoFit/>
          </a:bodyPr>
          <a:lstStyle/>
          <a:p>
            <a:pPr algn="l">
              <a:lnSpc>
                <a:spcPts val="3079"/>
              </a:lnSpc>
            </a:pPr>
            <a:r>
              <a:rPr lang="en-US" sz="2799" b="1">
                <a:solidFill>
                  <a:srgbClr val="1C3F60"/>
                </a:solidFill>
                <a:latin typeface="Inter Bold"/>
                <a:ea typeface="Inter Bold"/>
                <a:cs typeface="Inter Bold"/>
                <a:sym typeface="Inter Bold"/>
              </a:rPr>
              <a:t>Qualitative Analysis of the data</a:t>
            </a:r>
          </a:p>
        </p:txBody>
      </p:sp>
      <p:sp>
        <p:nvSpPr>
          <p:cNvPr id="6" name="TextBox 5"/>
          <p:cNvSpPr txBox="1"/>
          <p:nvPr/>
        </p:nvSpPr>
        <p:spPr>
          <a:xfrm>
            <a:off x="1028700" y="4769957"/>
            <a:ext cx="16230600" cy="2454390"/>
          </a:xfrm>
          <a:prstGeom prst="rect">
            <a:avLst/>
          </a:prstGeom>
        </p:spPr>
        <p:txBody>
          <a:bodyPr lIns="0" tIns="0" rIns="0" bIns="0" rtlCol="0" anchor="t">
            <a:spAutoFit/>
          </a:bodyPr>
          <a:lstStyle/>
          <a:p>
            <a:pPr marL="430824" lvl="1" indent="-215412" algn="just">
              <a:lnSpc>
                <a:spcPts val="2793"/>
              </a:lnSpc>
              <a:buFont typeface="Arial"/>
              <a:buChar char="•"/>
            </a:pPr>
            <a:r>
              <a:rPr lang="en-US" sz="1995" spc="-39">
                <a:solidFill>
                  <a:srgbClr val="1C191A"/>
                </a:solidFill>
                <a:latin typeface="Inter"/>
                <a:ea typeface="Inter"/>
                <a:cs typeface="Inter"/>
                <a:sym typeface="Inter"/>
              </a:rPr>
              <a:t>Most of the tweets are factual, as they are tweeted by famous News outlets and mode of the tweet is reporting type. </a:t>
            </a:r>
          </a:p>
          <a:p>
            <a:pPr marL="430824" lvl="1" indent="-215412" algn="just">
              <a:lnSpc>
                <a:spcPts val="2793"/>
              </a:lnSpc>
              <a:buFont typeface="Arial"/>
              <a:buChar char="•"/>
            </a:pPr>
            <a:r>
              <a:rPr lang="en-US" sz="1995" spc="-39">
                <a:solidFill>
                  <a:srgbClr val="1C191A"/>
                </a:solidFill>
                <a:latin typeface="Inter"/>
                <a:ea typeface="Inter"/>
                <a:cs typeface="Inter"/>
                <a:sym typeface="Inter"/>
              </a:rPr>
              <a:t>Some tweets contained Sarcasm, mostly targeting Pakistan Army and Government for their actions in the aftermath of the attack, defending their global picture.</a:t>
            </a:r>
          </a:p>
          <a:p>
            <a:pPr marL="430824" lvl="1" indent="-215412" algn="just">
              <a:lnSpc>
                <a:spcPts val="2793"/>
              </a:lnSpc>
              <a:buFont typeface="Arial"/>
              <a:buChar char="•"/>
            </a:pPr>
            <a:r>
              <a:rPr lang="en-US" sz="1995" spc="-39">
                <a:solidFill>
                  <a:srgbClr val="1C191A"/>
                </a:solidFill>
                <a:latin typeface="Inter"/>
                <a:ea typeface="Inter"/>
                <a:cs typeface="Inter"/>
                <a:sym typeface="Inter"/>
              </a:rPr>
              <a:t>Some speculative statements are there, where authors are claiming things that might be really serious, without any factual evidence.</a:t>
            </a:r>
          </a:p>
          <a:p>
            <a:pPr marL="430824" lvl="1" indent="-215412" algn="just">
              <a:lnSpc>
                <a:spcPts val="2793"/>
              </a:lnSpc>
              <a:buFont typeface="Arial"/>
              <a:buChar char="•"/>
            </a:pPr>
            <a:r>
              <a:rPr lang="en-US" sz="1995" spc="-39">
                <a:solidFill>
                  <a:srgbClr val="1C191A"/>
                </a:solidFill>
                <a:latin typeface="Inter"/>
                <a:ea typeface="Inter"/>
                <a:cs typeface="Inter"/>
                <a:sym typeface="Inter"/>
              </a:rPr>
              <a:t>Tweets also contained offensive words, verbal abuse and hatred.</a:t>
            </a:r>
          </a:p>
          <a:p>
            <a:pPr marL="430824" lvl="1" indent="-215412" algn="just">
              <a:lnSpc>
                <a:spcPts val="2793"/>
              </a:lnSpc>
              <a:buFont typeface="Arial"/>
              <a:buChar char="•"/>
            </a:pPr>
            <a:r>
              <a:rPr lang="en-US" sz="1995" spc="-39">
                <a:solidFill>
                  <a:srgbClr val="1C191A"/>
                </a:solidFill>
                <a:latin typeface="Inter"/>
                <a:ea typeface="Inter"/>
                <a:cs typeface="Inter"/>
                <a:sym typeface="Inter"/>
              </a:rPr>
              <a:t>A few tweets were there supporting peace and unity, condemning terrorist activities</a:t>
            </a:r>
          </a:p>
          <a:p>
            <a:pPr algn="just">
              <a:lnSpc>
                <a:spcPts val="2793"/>
              </a:lnSpc>
            </a:pPr>
            <a:endParaRPr lang="en-US" sz="1995" spc="-39">
              <a:solidFill>
                <a:srgbClr val="1C191A"/>
              </a:solidFill>
              <a:latin typeface="Inter"/>
              <a:ea typeface="Inter"/>
              <a:cs typeface="Inter"/>
              <a:sym typeface="Inter"/>
            </a:endParaRPr>
          </a:p>
        </p:txBody>
      </p:sp>
      <p:sp>
        <p:nvSpPr>
          <p:cNvPr id="7" name="TextBox 6"/>
          <p:cNvSpPr txBox="1"/>
          <p:nvPr/>
        </p:nvSpPr>
        <p:spPr>
          <a:xfrm>
            <a:off x="1028700" y="7586297"/>
            <a:ext cx="16230600" cy="517525"/>
          </a:xfrm>
          <a:prstGeom prst="rect">
            <a:avLst/>
          </a:prstGeom>
        </p:spPr>
        <p:txBody>
          <a:bodyPr lIns="0" tIns="0" rIns="0" bIns="0" rtlCol="0" anchor="t">
            <a:spAutoFit/>
          </a:bodyPr>
          <a:lstStyle/>
          <a:p>
            <a:pPr algn="l">
              <a:lnSpc>
                <a:spcPts val="2000"/>
              </a:lnSpc>
              <a:spcBef>
                <a:spcPct val="0"/>
              </a:spcBef>
            </a:pPr>
            <a:r>
              <a:rPr lang="en-US" sz="2000">
                <a:solidFill>
                  <a:srgbClr val="000000"/>
                </a:solidFill>
                <a:latin typeface="Inter"/>
                <a:ea typeface="Inter"/>
                <a:cs typeface="Inter"/>
                <a:sym typeface="Inter"/>
              </a:rPr>
              <a:t>Although this subset represents a fraction of the total corpus, it accurately reflects the core discourse. While additional peripheral themes may exist, the identified categories represent the most statistically and contextually significant trends.</a:t>
            </a:r>
          </a:p>
        </p:txBody>
      </p:sp>
    </p:spTree>
    <p:extLst>
      <p:ext uri="{BB962C8B-B14F-4D97-AF65-F5344CB8AC3E}">
        <p14:creationId xmlns:p14="http://schemas.microsoft.com/office/powerpoint/2010/main" val="1385217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3" name="Group 3"/>
          <p:cNvGrpSpPr/>
          <p:nvPr/>
        </p:nvGrpSpPr>
        <p:grpSpPr>
          <a:xfrm>
            <a:off x="7270659" y="-885096"/>
            <a:ext cx="11910808" cy="11698111"/>
            <a:chOff x="0" y="0"/>
            <a:chExt cx="1262408" cy="1239865"/>
          </a:xfrm>
        </p:grpSpPr>
        <p:sp>
          <p:nvSpPr>
            <p:cNvPr id="4" name="Freeform 4"/>
            <p:cNvSpPr/>
            <p:nvPr/>
          </p:nvSpPr>
          <p:spPr>
            <a:xfrm>
              <a:off x="0" y="0"/>
              <a:ext cx="1262408" cy="1239865"/>
            </a:xfrm>
            <a:custGeom>
              <a:avLst/>
              <a:gdLst/>
              <a:ahLst/>
              <a:cxnLst/>
              <a:rect l="l" t="t" r="r" b="b"/>
              <a:pathLst>
                <a:path w="1262408" h="1239865">
                  <a:moveTo>
                    <a:pt x="0" y="0"/>
                  </a:moveTo>
                  <a:lnTo>
                    <a:pt x="1262408" y="0"/>
                  </a:lnTo>
                  <a:lnTo>
                    <a:pt x="1262408" y="1239865"/>
                  </a:lnTo>
                  <a:lnTo>
                    <a:pt x="0" y="1239865"/>
                  </a:lnTo>
                  <a:close/>
                </a:path>
              </a:pathLst>
            </a:custGeom>
            <a:solidFill>
              <a:srgbClr val="FFFFFF"/>
            </a:solidFill>
          </p:spPr>
        </p:sp>
        <p:sp>
          <p:nvSpPr>
            <p:cNvPr id="5" name="TextBox 5"/>
            <p:cNvSpPr txBox="1"/>
            <p:nvPr/>
          </p:nvSpPr>
          <p:spPr>
            <a:xfrm>
              <a:off x="0" y="-38100"/>
              <a:ext cx="1262408" cy="1277965"/>
            </a:xfrm>
            <a:prstGeom prst="rect">
              <a:avLst/>
            </a:prstGeom>
          </p:spPr>
          <p:txBody>
            <a:bodyPr lIns="50800" tIns="50800" rIns="50800" bIns="50800" rtlCol="0" anchor="ctr"/>
            <a:lstStyle/>
            <a:p>
              <a:pPr algn="ctr">
                <a:lnSpc>
                  <a:spcPts val="2799"/>
                </a:lnSpc>
              </a:pPr>
              <a:endParaRPr/>
            </a:p>
          </p:txBody>
        </p:sp>
      </p:grpSp>
      <p:sp>
        <p:nvSpPr>
          <p:cNvPr id="6" name="Freeform 6"/>
          <p:cNvSpPr/>
          <p:nvPr/>
        </p:nvSpPr>
        <p:spPr>
          <a:xfrm rot="5400000">
            <a:off x="7802891" y="1984459"/>
            <a:ext cx="1207268" cy="1207268"/>
          </a:xfrm>
          <a:custGeom>
            <a:avLst/>
            <a:gdLst/>
            <a:ahLst/>
            <a:cxnLst/>
            <a:rect l="l" t="t" r="r" b="b"/>
            <a:pathLst>
              <a:path w="1207268" h="1207268">
                <a:moveTo>
                  <a:pt x="0" y="0"/>
                </a:moveTo>
                <a:lnTo>
                  <a:pt x="1207267" y="0"/>
                </a:lnTo>
                <a:lnTo>
                  <a:pt x="1207267" y="1207267"/>
                </a:lnTo>
                <a:lnTo>
                  <a:pt x="0" y="1207267"/>
                </a:lnTo>
                <a:lnTo>
                  <a:pt x="0" y="0"/>
                </a:lnTo>
                <a:close/>
              </a:path>
            </a:pathLst>
          </a:custGeom>
          <a:blipFill>
            <a:blip r:embed="rId3"/>
            <a:stretch>
              <a:fillRect t="-27701" b="-22392"/>
            </a:stretch>
          </a:blipFill>
        </p:spPr>
      </p:sp>
      <p:sp>
        <p:nvSpPr>
          <p:cNvPr id="8" name="TextBox 8"/>
          <p:cNvSpPr txBox="1"/>
          <p:nvPr/>
        </p:nvSpPr>
        <p:spPr>
          <a:xfrm>
            <a:off x="7893577" y="2442937"/>
            <a:ext cx="1009199" cy="327660"/>
          </a:xfrm>
          <a:prstGeom prst="rect">
            <a:avLst/>
          </a:prstGeom>
        </p:spPr>
        <p:txBody>
          <a:bodyPr lIns="0" tIns="0" rIns="0" bIns="0" rtlCol="0" anchor="t">
            <a:spAutoFit/>
          </a:bodyPr>
          <a:lstStyle/>
          <a:p>
            <a:pPr marL="0" lvl="0" indent="0" algn="ctr">
              <a:lnSpc>
                <a:spcPts val="2400"/>
              </a:lnSpc>
              <a:spcBef>
                <a:spcPct val="0"/>
              </a:spcBef>
            </a:pPr>
            <a:r>
              <a:rPr lang="en-US" sz="2400" b="1" dirty="0">
                <a:solidFill>
                  <a:srgbClr val="1C3F60"/>
                </a:solidFill>
                <a:latin typeface="Inter Bold"/>
                <a:ea typeface="Inter Bold"/>
                <a:cs typeface="Inter Bold"/>
                <a:sym typeface="Inter Bold"/>
              </a:rPr>
              <a:t>0</a:t>
            </a:r>
            <a:r>
              <a:rPr lang="en-US" sz="2400" b="1" u="none" strike="noStrike" dirty="0">
                <a:solidFill>
                  <a:srgbClr val="1C3F60"/>
                </a:solidFill>
                <a:latin typeface="Inter Bold"/>
                <a:ea typeface="Inter Bold"/>
                <a:cs typeface="Inter Bold"/>
                <a:sym typeface="Inter Bold"/>
              </a:rPr>
              <a:t>1</a:t>
            </a:r>
          </a:p>
        </p:txBody>
      </p:sp>
      <p:sp>
        <p:nvSpPr>
          <p:cNvPr id="10" name="TextBox 10"/>
          <p:cNvSpPr txBox="1"/>
          <p:nvPr/>
        </p:nvSpPr>
        <p:spPr>
          <a:xfrm>
            <a:off x="9302841" y="2648019"/>
            <a:ext cx="8495752" cy="5357621"/>
          </a:xfrm>
          <a:prstGeom prst="rect">
            <a:avLst/>
          </a:prstGeom>
        </p:spPr>
        <p:txBody>
          <a:bodyPr wrap="square" lIns="0" tIns="0" rIns="0" bIns="0" rtlCol="0" anchor="t">
            <a:spAutoFit/>
          </a:bodyPr>
          <a:lstStyle/>
          <a:p>
            <a:pPr lvl="0" algn="l">
              <a:lnSpc>
                <a:spcPts val="2799"/>
              </a:lnSpc>
              <a:spcBef>
                <a:spcPct val="0"/>
              </a:spcBef>
            </a:pPr>
            <a:r>
              <a:rPr lang="en-US" sz="1999" u="none" strike="noStrike" spc="-39" dirty="0">
                <a:solidFill>
                  <a:srgbClr val="1C191A"/>
                </a:solidFill>
                <a:latin typeface="Inter"/>
                <a:ea typeface="Inter"/>
                <a:cs typeface="Inter"/>
                <a:sym typeface="Inter"/>
              </a:rPr>
              <a:t>For this task I have only used the ‘text’ column of the dataset. Each row in this column denotes a tweet. However, these rows contain redundan</a:t>
            </a:r>
            <a:r>
              <a:rPr lang="en-US" sz="1999" spc="-39" dirty="0">
                <a:solidFill>
                  <a:srgbClr val="1C191A"/>
                </a:solidFill>
                <a:latin typeface="Inter"/>
                <a:ea typeface="Inter"/>
                <a:cs typeface="Inter"/>
                <a:sym typeface="Inter"/>
              </a:rPr>
              <a:t>t data like URLs, hashtags, and emojis which are not useful for the purpose and might cause trouble as the embedding could be different than the usual. So, data cleaning is required.</a:t>
            </a:r>
          </a:p>
          <a:p>
            <a:pPr lvl="0" algn="l">
              <a:lnSpc>
                <a:spcPts val="2799"/>
              </a:lnSpc>
              <a:spcBef>
                <a:spcPct val="0"/>
              </a:spcBef>
            </a:pPr>
            <a:endParaRPr lang="en-US" sz="1999" spc="-39" dirty="0">
              <a:solidFill>
                <a:srgbClr val="1C191A"/>
              </a:solidFill>
              <a:latin typeface="Inter"/>
              <a:ea typeface="Inter"/>
              <a:cs typeface="Inter"/>
              <a:sym typeface="Inter"/>
            </a:endParaRPr>
          </a:p>
          <a:p>
            <a:pPr lvl="0" algn="l">
              <a:lnSpc>
                <a:spcPts val="2799"/>
              </a:lnSpc>
              <a:spcBef>
                <a:spcPct val="0"/>
              </a:spcBef>
            </a:pPr>
            <a:r>
              <a:rPr lang="en-US" sz="1999" spc="-39" dirty="0">
                <a:solidFill>
                  <a:srgbClr val="1C191A"/>
                </a:solidFill>
                <a:latin typeface="Inter"/>
                <a:ea typeface="Inter"/>
                <a:cs typeface="Inter"/>
                <a:sym typeface="Inter"/>
              </a:rPr>
              <a:t>For cleaning the data, I first removed the </a:t>
            </a:r>
            <a:r>
              <a:rPr lang="en-US" sz="1999" spc="-39" dirty="0" err="1">
                <a:solidFill>
                  <a:srgbClr val="1C191A"/>
                </a:solidFill>
                <a:latin typeface="Inter"/>
                <a:ea typeface="Inter"/>
                <a:cs typeface="Inter"/>
                <a:sym typeface="Inter"/>
              </a:rPr>
              <a:t>stopwords</a:t>
            </a:r>
            <a:r>
              <a:rPr lang="en-US" sz="1999" spc="-39" dirty="0">
                <a:solidFill>
                  <a:srgbClr val="1C191A"/>
                </a:solidFill>
                <a:latin typeface="Inter"/>
                <a:ea typeface="Inter"/>
                <a:cs typeface="Inter"/>
                <a:sym typeface="Inter"/>
              </a:rPr>
              <a:t> present in the data like ‘and’, ‘the’, ‘is’ etc. Then removed any URLs present in the tweets using regular expressions.</a:t>
            </a:r>
          </a:p>
          <a:p>
            <a:pPr lvl="0" algn="l">
              <a:lnSpc>
                <a:spcPts val="2799"/>
              </a:lnSpc>
              <a:spcBef>
                <a:spcPct val="0"/>
              </a:spcBef>
            </a:pPr>
            <a:endParaRPr lang="en-US" sz="1999" spc="-39" dirty="0">
              <a:solidFill>
                <a:srgbClr val="1C191A"/>
              </a:solidFill>
              <a:latin typeface="Inter"/>
              <a:ea typeface="Inter"/>
              <a:cs typeface="Inter"/>
              <a:sym typeface="Inter"/>
            </a:endParaRPr>
          </a:p>
          <a:p>
            <a:pPr lvl="0" algn="l">
              <a:lnSpc>
                <a:spcPts val="2799"/>
              </a:lnSpc>
              <a:spcBef>
                <a:spcPct val="0"/>
              </a:spcBef>
            </a:pPr>
            <a:r>
              <a:rPr lang="en-US" sz="1999" spc="-39" dirty="0">
                <a:solidFill>
                  <a:srgbClr val="1C191A"/>
                </a:solidFill>
                <a:latin typeface="Inter"/>
                <a:ea typeface="Inter"/>
                <a:cs typeface="Inter"/>
                <a:sym typeface="Inter"/>
              </a:rPr>
              <a:t>Another important step of pre-processing is Lemmatization. It s a text normalization technique that reduces inflected words to their dictionary base form, called a lemma, using vocabulary and morphological analysis. For example – ‘Pakistani’, ‘Pakistan’s’, ‘Pakistan’, all are converted into base word ‘Pakistan’. I used </a:t>
            </a:r>
            <a:r>
              <a:rPr lang="en-US" sz="1999" b="1" spc="-39" dirty="0" err="1">
                <a:solidFill>
                  <a:srgbClr val="1C191A"/>
                </a:solidFill>
                <a:latin typeface="Inter"/>
                <a:ea typeface="Inter"/>
                <a:cs typeface="Inter"/>
                <a:sym typeface="Inter"/>
              </a:rPr>
              <a:t>spaCy</a:t>
            </a:r>
            <a:r>
              <a:rPr lang="en-US" sz="1999" spc="-39" dirty="0">
                <a:solidFill>
                  <a:srgbClr val="1C191A"/>
                </a:solidFill>
                <a:latin typeface="Inter"/>
                <a:ea typeface="Inter"/>
                <a:cs typeface="Inter"/>
                <a:sym typeface="Inter"/>
              </a:rPr>
              <a:t> </a:t>
            </a:r>
            <a:r>
              <a:rPr lang="en-US" sz="1999" spc="-39" dirty="0" err="1">
                <a:solidFill>
                  <a:srgbClr val="1C191A"/>
                </a:solidFill>
                <a:latin typeface="Inter"/>
                <a:ea typeface="Inter"/>
                <a:cs typeface="Inter"/>
                <a:sym typeface="Inter"/>
              </a:rPr>
              <a:t>lemmatizer</a:t>
            </a:r>
            <a:r>
              <a:rPr lang="en-US" sz="1999" spc="-39" dirty="0">
                <a:solidFill>
                  <a:srgbClr val="1C191A"/>
                </a:solidFill>
                <a:latin typeface="Inter"/>
                <a:ea typeface="Inter"/>
                <a:cs typeface="Inter"/>
                <a:sym typeface="Inter"/>
              </a:rPr>
              <a:t> here. </a:t>
            </a:r>
            <a:endParaRPr lang="en-US" sz="1999" u="none" strike="noStrike" spc="-39" dirty="0">
              <a:solidFill>
                <a:srgbClr val="1C191A"/>
              </a:solidFill>
              <a:latin typeface="Inter"/>
              <a:ea typeface="Inter"/>
              <a:cs typeface="Inter"/>
              <a:sym typeface="Inter"/>
            </a:endParaRPr>
          </a:p>
        </p:txBody>
      </p:sp>
      <p:sp>
        <p:nvSpPr>
          <p:cNvPr id="12" name="TextBox 12"/>
          <p:cNvSpPr txBox="1"/>
          <p:nvPr/>
        </p:nvSpPr>
        <p:spPr>
          <a:xfrm>
            <a:off x="609600" y="4963959"/>
            <a:ext cx="6280058" cy="1025922"/>
          </a:xfrm>
          <a:prstGeom prst="rect">
            <a:avLst/>
          </a:prstGeom>
        </p:spPr>
        <p:txBody>
          <a:bodyPr wrap="square" lIns="0" tIns="0" rIns="0" bIns="0" rtlCol="0" anchor="t">
            <a:spAutoFit/>
          </a:bodyPr>
          <a:lstStyle/>
          <a:p>
            <a:pPr marL="0" lvl="0" indent="0" algn="just">
              <a:lnSpc>
                <a:spcPts val="8000"/>
              </a:lnSpc>
              <a:spcBef>
                <a:spcPct val="0"/>
              </a:spcBef>
            </a:pPr>
            <a:r>
              <a:rPr lang="en-US" sz="8000" u="none" strike="noStrike" dirty="0">
                <a:solidFill>
                  <a:srgbClr val="345C72"/>
                </a:solidFill>
                <a:latin typeface="Inter"/>
                <a:ea typeface="Inter"/>
                <a:cs typeface="Inter"/>
                <a:sym typeface="Inter"/>
              </a:rPr>
              <a:t>Methodology</a:t>
            </a:r>
          </a:p>
        </p:txBody>
      </p:sp>
      <p:sp>
        <p:nvSpPr>
          <p:cNvPr id="13" name="AutoShape 13"/>
          <p:cNvSpPr/>
          <p:nvPr/>
        </p:nvSpPr>
        <p:spPr>
          <a:xfrm>
            <a:off x="1302355" y="6670357"/>
            <a:ext cx="4335926" cy="0"/>
          </a:xfrm>
          <a:prstGeom prst="line">
            <a:avLst/>
          </a:prstGeom>
          <a:ln w="38100" cap="flat">
            <a:solidFill>
              <a:srgbClr val="345C72">
                <a:alpha val="60000"/>
              </a:srgbClr>
            </a:solidFill>
            <a:prstDash val="solid"/>
            <a:headEnd type="none" w="sm" len="sm"/>
            <a:tailEnd type="none" w="sm" len="sm"/>
          </a:ln>
        </p:spPr>
      </p:sp>
      <p:sp>
        <p:nvSpPr>
          <p:cNvPr id="14" name="TextBox 14"/>
          <p:cNvSpPr txBox="1"/>
          <p:nvPr/>
        </p:nvSpPr>
        <p:spPr>
          <a:xfrm>
            <a:off x="9277843" y="2016801"/>
            <a:ext cx="7592648" cy="397510"/>
          </a:xfrm>
          <a:prstGeom prst="rect">
            <a:avLst/>
          </a:prstGeom>
        </p:spPr>
        <p:txBody>
          <a:bodyPr lIns="0" tIns="0" rIns="0" bIns="0" rtlCol="0" anchor="t">
            <a:spAutoFit/>
          </a:bodyPr>
          <a:lstStyle/>
          <a:p>
            <a:pPr algn="l">
              <a:lnSpc>
                <a:spcPts val="3079"/>
              </a:lnSpc>
            </a:pPr>
            <a:r>
              <a:rPr lang="en-US" sz="2799" b="1" dirty="0">
                <a:solidFill>
                  <a:srgbClr val="1C3F60"/>
                </a:solidFill>
                <a:latin typeface="Inter Bold"/>
                <a:ea typeface="Inter Bold"/>
                <a:cs typeface="Inter Bold"/>
                <a:sym typeface="Inter Bold"/>
              </a:rPr>
              <a:t>Data Cleaning and Pre-processing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BD39172-87E6-BE5D-9048-D8517560B4F2}"/>
              </a:ext>
            </a:extLst>
          </p:cNvPr>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3" name="Group 3">
            <a:extLst>
              <a:ext uri="{FF2B5EF4-FFF2-40B4-BE49-F238E27FC236}">
                <a16:creationId xmlns:a16="http://schemas.microsoft.com/office/drawing/2014/main" id="{E802683E-6DEF-81BA-4755-68A2DEF1EA55}"/>
              </a:ext>
            </a:extLst>
          </p:cNvPr>
          <p:cNvGrpSpPr/>
          <p:nvPr/>
        </p:nvGrpSpPr>
        <p:grpSpPr>
          <a:xfrm>
            <a:off x="0" y="-571500"/>
            <a:ext cx="11910808" cy="11698111"/>
            <a:chOff x="0" y="0"/>
            <a:chExt cx="1262408" cy="1239865"/>
          </a:xfrm>
        </p:grpSpPr>
        <p:sp>
          <p:nvSpPr>
            <p:cNvPr id="4" name="Freeform 4">
              <a:extLst>
                <a:ext uri="{FF2B5EF4-FFF2-40B4-BE49-F238E27FC236}">
                  <a16:creationId xmlns:a16="http://schemas.microsoft.com/office/drawing/2014/main" id="{A3F387A0-3E2A-E45C-7AE1-D829E4FAD269}"/>
                </a:ext>
              </a:extLst>
            </p:cNvPr>
            <p:cNvSpPr/>
            <p:nvPr/>
          </p:nvSpPr>
          <p:spPr>
            <a:xfrm>
              <a:off x="0" y="0"/>
              <a:ext cx="1262408" cy="1239865"/>
            </a:xfrm>
            <a:custGeom>
              <a:avLst/>
              <a:gdLst/>
              <a:ahLst/>
              <a:cxnLst/>
              <a:rect l="l" t="t" r="r" b="b"/>
              <a:pathLst>
                <a:path w="1262408" h="1239865">
                  <a:moveTo>
                    <a:pt x="0" y="0"/>
                  </a:moveTo>
                  <a:lnTo>
                    <a:pt x="1262408" y="0"/>
                  </a:lnTo>
                  <a:lnTo>
                    <a:pt x="1262408" y="1239865"/>
                  </a:lnTo>
                  <a:lnTo>
                    <a:pt x="0" y="1239865"/>
                  </a:lnTo>
                  <a:close/>
                </a:path>
              </a:pathLst>
            </a:custGeom>
            <a:solidFill>
              <a:srgbClr val="FFFFFF"/>
            </a:solidFill>
          </p:spPr>
        </p:sp>
        <p:sp>
          <p:nvSpPr>
            <p:cNvPr id="5" name="TextBox 5">
              <a:extLst>
                <a:ext uri="{FF2B5EF4-FFF2-40B4-BE49-F238E27FC236}">
                  <a16:creationId xmlns:a16="http://schemas.microsoft.com/office/drawing/2014/main" id="{DA746686-CE74-8B3D-BCCF-836F22E77BF2}"/>
                </a:ext>
              </a:extLst>
            </p:cNvPr>
            <p:cNvSpPr txBox="1"/>
            <p:nvPr/>
          </p:nvSpPr>
          <p:spPr>
            <a:xfrm>
              <a:off x="0" y="-38100"/>
              <a:ext cx="1262408" cy="1277965"/>
            </a:xfrm>
            <a:prstGeom prst="rect">
              <a:avLst/>
            </a:prstGeom>
          </p:spPr>
          <p:txBody>
            <a:bodyPr lIns="50800" tIns="50800" rIns="50800" bIns="50800" rtlCol="0" anchor="ctr"/>
            <a:lstStyle/>
            <a:p>
              <a:pPr algn="ctr">
                <a:lnSpc>
                  <a:spcPts val="2799"/>
                </a:lnSpc>
              </a:pPr>
              <a:endParaRPr/>
            </a:p>
          </p:txBody>
        </p:sp>
      </p:grpSp>
      <p:sp>
        <p:nvSpPr>
          <p:cNvPr id="6" name="Freeform 7">
            <a:extLst>
              <a:ext uri="{FF2B5EF4-FFF2-40B4-BE49-F238E27FC236}">
                <a16:creationId xmlns:a16="http://schemas.microsoft.com/office/drawing/2014/main" id="{97A92CFE-97AA-D91D-8181-EDE8E0FE7BF8}"/>
              </a:ext>
            </a:extLst>
          </p:cNvPr>
          <p:cNvSpPr/>
          <p:nvPr/>
        </p:nvSpPr>
        <p:spPr>
          <a:xfrm rot="5400000">
            <a:off x="762000" y="571500"/>
            <a:ext cx="1207268" cy="1207268"/>
          </a:xfrm>
          <a:custGeom>
            <a:avLst/>
            <a:gdLst/>
            <a:ahLst/>
            <a:cxnLst/>
            <a:rect l="l" t="t" r="r" b="b"/>
            <a:pathLst>
              <a:path w="1207268" h="1207268">
                <a:moveTo>
                  <a:pt x="0" y="0"/>
                </a:moveTo>
                <a:lnTo>
                  <a:pt x="1207267" y="0"/>
                </a:lnTo>
                <a:lnTo>
                  <a:pt x="1207267" y="1207267"/>
                </a:lnTo>
                <a:lnTo>
                  <a:pt x="0" y="1207267"/>
                </a:lnTo>
                <a:lnTo>
                  <a:pt x="0" y="0"/>
                </a:lnTo>
                <a:close/>
              </a:path>
            </a:pathLst>
          </a:custGeom>
          <a:blipFill>
            <a:blip r:embed="rId3"/>
            <a:stretch>
              <a:fillRect t="-27701" b="-22392"/>
            </a:stretch>
          </a:blipFill>
        </p:spPr>
      </p:sp>
      <p:sp>
        <p:nvSpPr>
          <p:cNvPr id="8" name="TextBox 8">
            <a:extLst>
              <a:ext uri="{FF2B5EF4-FFF2-40B4-BE49-F238E27FC236}">
                <a16:creationId xmlns:a16="http://schemas.microsoft.com/office/drawing/2014/main" id="{472363AD-DD58-5501-BAF6-F3357193BF67}"/>
              </a:ext>
            </a:extLst>
          </p:cNvPr>
          <p:cNvSpPr txBox="1"/>
          <p:nvPr/>
        </p:nvSpPr>
        <p:spPr>
          <a:xfrm>
            <a:off x="861034" y="1011304"/>
            <a:ext cx="1009199" cy="307777"/>
          </a:xfrm>
          <a:prstGeom prst="rect">
            <a:avLst/>
          </a:prstGeom>
        </p:spPr>
        <p:txBody>
          <a:bodyPr lIns="0" tIns="0" rIns="0" bIns="0" rtlCol="0" anchor="t">
            <a:spAutoFit/>
          </a:bodyPr>
          <a:lstStyle/>
          <a:p>
            <a:pPr marL="0" lvl="0" indent="0" algn="ctr">
              <a:lnSpc>
                <a:spcPts val="2400"/>
              </a:lnSpc>
              <a:spcBef>
                <a:spcPct val="0"/>
              </a:spcBef>
            </a:pPr>
            <a:r>
              <a:rPr lang="en-US" sz="2400" b="1" dirty="0">
                <a:solidFill>
                  <a:srgbClr val="1C3F60"/>
                </a:solidFill>
                <a:latin typeface="Inter Bold"/>
                <a:ea typeface="Inter Bold"/>
                <a:cs typeface="Inter Bold"/>
                <a:sym typeface="Inter Bold"/>
              </a:rPr>
              <a:t>02</a:t>
            </a:r>
            <a:endParaRPr lang="en-US" sz="2400" b="1" u="none" strike="noStrike" dirty="0">
              <a:solidFill>
                <a:srgbClr val="1C3F60"/>
              </a:solidFill>
              <a:latin typeface="Inter Bold"/>
              <a:ea typeface="Inter Bold"/>
              <a:cs typeface="Inter Bold"/>
              <a:sym typeface="Inter Bold"/>
            </a:endParaRPr>
          </a:p>
        </p:txBody>
      </p:sp>
      <p:sp>
        <p:nvSpPr>
          <p:cNvPr id="9" name="TextBox 14">
            <a:extLst>
              <a:ext uri="{FF2B5EF4-FFF2-40B4-BE49-F238E27FC236}">
                <a16:creationId xmlns:a16="http://schemas.microsoft.com/office/drawing/2014/main" id="{BCE2C8B7-DBAA-9EE7-7631-EA116B37D2AC}"/>
              </a:ext>
            </a:extLst>
          </p:cNvPr>
          <p:cNvSpPr txBox="1"/>
          <p:nvPr/>
        </p:nvSpPr>
        <p:spPr>
          <a:xfrm>
            <a:off x="2362200" y="574964"/>
            <a:ext cx="7592648" cy="397510"/>
          </a:xfrm>
          <a:prstGeom prst="rect">
            <a:avLst/>
          </a:prstGeom>
        </p:spPr>
        <p:txBody>
          <a:bodyPr lIns="0" tIns="0" rIns="0" bIns="0" rtlCol="0" anchor="t">
            <a:spAutoFit/>
          </a:bodyPr>
          <a:lstStyle/>
          <a:p>
            <a:pPr>
              <a:lnSpc>
                <a:spcPts val="3079"/>
              </a:lnSpc>
            </a:pPr>
            <a:r>
              <a:rPr lang="en-US" sz="2799" b="1" dirty="0">
                <a:solidFill>
                  <a:srgbClr val="1C3F60"/>
                </a:solidFill>
                <a:latin typeface="Inter Bold"/>
                <a:ea typeface="Inter Bold"/>
                <a:cs typeface="Inter Bold"/>
                <a:sym typeface="Inter Bold"/>
              </a:rPr>
              <a:t>Selecting top 200 words using TF-IDF</a:t>
            </a:r>
          </a:p>
        </p:txBody>
      </p:sp>
      <p:sp>
        <p:nvSpPr>
          <p:cNvPr id="10" name="TextBox 10">
            <a:extLst>
              <a:ext uri="{FF2B5EF4-FFF2-40B4-BE49-F238E27FC236}">
                <a16:creationId xmlns:a16="http://schemas.microsoft.com/office/drawing/2014/main" id="{49A42784-6B37-E51B-335F-81CFD0C59EBA}"/>
              </a:ext>
            </a:extLst>
          </p:cNvPr>
          <p:cNvSpPr txBox="1"/>
          <p:nvPr/>
        </p:nvSpPr>
        <p:spPr>
          <a:xfrm>
            <a:off x="2362200" y="1151260"/>
            <a:ext cx="8534400" cy="6793911"/>
          </a:xfrm>
          <a:prstGeom prst="rect">
            <a:avLst/>
          </a:prstGeom>
        </p:spPr>
        <p:txBody>
          <a:bodyPr wrap="square" lIns="0" tIns="0" rIns="0" bIns="0" rtlCol="0" anchor="t">
            <a:spAutoFit/>
          </a:bodyPr>
          <a:lstStyle/>
          <a:p>
            <a:pPr marL="0" lvl="0" indent="0" algn="l">
              <a:lnSpc>
                <a:spcPts val="2799"/>
              </a:lnSpc>
              <a:spcBef>
                <a:spcPct val="0"/>
              </a:spcBef>
            </a:pPr>
            <a:r>
              <a:rPr lang="en-US" sz="1999" u="none" strike="noStrike" spc="-39" dirty="0">
                <a:solidFill>
                  <a:srgbClr val="1C191A"/>
                </a:solidFill>
                <a:latin typeface="Inter"/>
                <a:ea typeface="Inter"/>
                <a:cs typeface="Inter"/>
                <a:sym typeface="Inter"/>
              </a:rPr>
              <a:t>TF-IDF refers to Term Frequency-Inverse Document Frequency. It is a statistical method which is widely used as a measure of importance of a word to a document or corpus. Here is a breakdown of individual terms –</a:t>
            </a:r>
          </a:p>
          <a:p>
            <a:pPr marL="0" lvl="0" indent="0" algn="l">
              <a:lnSpc>
                <a:spcPts val="2799"/>
              </a:lnSpc>
              <a:spcBef>
                <a:spcPct val="0"/>
              </a:spcBef>
            </a:pPr>
            <a:endParaRPr lang="en-US" sz="1999" i="1" u="none" strike="noStrike" spc="-39" dirty="0">
              <a:solidFill>
                <a:srgbClr val="1C191A"/>
              </a:solidFill>
              <a:latin typeface="Inter"/>
              <a:ea typeface="Inter"/>
              <a:cs typeface="Inter"/>
              <a:sym typeface="Inter"/>
            </a:endParaRPr>
          </a:p>
          <a:p>
            <a:pPr marL="0" lvl="0" indent="0" algn="l">
              <a:lnSpc>
                <a:spcPts val="2799"/>
              </a:lnSpc>
              <a:spcBef>
                <a:spcPct val="0"/>
              </a:spcBef>
            </a:pPr>
            <a:r>
              <a:rPr lang="en-US" sz="1999" i="1" u="none" strike="noStrike" spc="-39" dirty="0">
                <a:solidFill>
                  <a:srgbClr val="1C191A"/>
                </a:solidFill>
                <a:latin typeface="Inter"/>
                <a:ea typeface="Inter"/>
                <a:cs typeface="Inter"/>
                <a:sym typeface="Inter"/>
              </a:rPr>
              <a:t>TF measures the frequency of a term within a document.</a:t>
            </a:r>
            <a:r>
              <a:rPr lang="en-US" sz="1999" u="none" strike="noStrike" spc="-39" dirty="0">
                <a:solidFill>
                  <a:srgbClr val="1C191A"/>
                </a:solidFill>
                <a:latin typeface="Inter"/>
                <a:ea typeface="Inter"/>
                <a:cs typeface="Inter"/>
                <a:sym typeface="Inter"/>
              </a:rPr>
              <a:t> </a:t>
            </a:r>
          </a:p>
          <a:p>
            <a:pPr marL="0" lvl="0" indent="0" algn="l">
              <a:lnSpc>
                <a:spcPts val="2799"/>
              </a:lnSpc>
              <a:spcBef>
                <a:spcPct val="0"/>
              </a:spcBef>
            </a:pPr>
            <a:endParaRPr lang="en-US" sz="1999" u="none" strike="noStrike" spc="-39" dirty="0">
              <a:solidFill>
                <a:srgbClr val="1C191A"/>
              </a:solidFill>
              <a:latin typeface="Inter"/>
              <a:ea typeface="Inter"/>
              <a:cs typeface="Inter"/>
              <a:sym typeface="Inter"/>
            </a:endParaRPr>
          </a:p>
          <a:p>
            <a:pPr marL="0" lvl="0" indent="0" algn="l">
              <a:lnSpc>
                <a:spcPts val="2799"/>
              </a:lnSpc>
              <a:spcBef>
                <a:spcPct val="0"/>
              </a:spcBef>
            </a:pPr>
            <a:endParaRPr lang="en-US" sz="1999" u="none" strike="noStrike" spc="-39" dirty="0">
              <a:solidFill>
                <a:srgbClr val="1C191A"/>
              </a:solidFill>
              <a:latin typeface="Inter"/>
              <a:ea typeface="Inter"/>
              <a:cs typeface="Inter"/>
              <a:sym typeface="Inter"/>
            </a:endParaRP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r>
              <a:rPr lang="en-US" sz="1999" i="1" u="none" strike="noStrike" spc="-39" dirty="0">
                <a:solidFill>
                  <a:srgbClr val="1C191A"/>
                </a:solidFill>
                <a:latin typeface="Inter"/>
                <a:ea typeface="Inter"/>
                <a:cs typeface="Inter"/>
                <a:sym typeface="Inter"/>
              </a:rPr>
              <a:t>IDF measures the rarity of a term across a collection of documents.</a:t>
            </a:r>
          </a:p>
          <a:p>
            <a:pPr marL="0" lvl="0" indent="0" algn="l">
              <a:lnSpc>
                <a:spcPts val="2799"/>
              </a:lnSpc>
              <a:spcBef>
                <a:spcPct val="0"/>
              </a:spcBef>
            </a:pPr>
            <a:endParaRPr lang="en-US" sz="1999" i="1" spc="-39" dirty="0">
              <a:solidFill>
                <a:srgbClr val="1C191A"/>
              </a:solidFill>
              <a:latin typeface="Inter"/>
              <a:ea typeface="Inter"/>
              <a:cs typeface="Inter"/>
              <a:sym typeface="Inter"/>
            </a:endParaRPr>
          </a:p>
          <a:p>
            <a:pPr marL="0" lvl="0" indent="0" algn="l">
              <a:lnSpc>
                <a:spcPts val="2799"/>
              </a:lnSpc>
              <a:spcBef>
                <a:spcPct val="0"/>
              </a:spcBef>
            </a:pPr>
            <a:endParaRPr lang="en-US" sz="1999" i="1" u="none" strike="noStrike" spc="-39" dirty="0">
              <a:solidFill>
                <a:srgbClr val="1C191A"/>
              </a:solidFill>
              <a:latin typeface="Inter"/>
              <a:ea typeface="Inter"/>
              <a:cs typeface="Inter"/>
              <a:sym typeface="Inter"/>
            </a:endParaRPr>
          </a:p>
          <a:p>
            <a:pPr marL="0" lvl="0" indent="0" algn="l">
              <a:lnSpc>
                <a:spcPts val="2799"/>
              </a:lnSpc>
              <a:spcBef>
                <a:spcPct val="0"/>
              </a:spcBef>
            </a:pPr>
            <a:r>
              <a:rPr lang="en-US" sz="1999" u="none" strike="noStrike" spc="-39" dirty="0">
                <a:solidFill>
                  <a:srgbClr val="1C191A"/>
                </a:solidFill>
                <a:latin typeface="Inter"/>
                <a:ea typeface="Inter"/>
                <a:cs typeface="Inter"/>
                <a:sym typeface="Inter"/>
              </a:rPr>
              <a:t>In the context of this task, every term is a word which is left after pre-processing, and every document is a tweet or row in the ‘text’ column.</a:t>
            </a: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r>
              <a:rPr lang="en-US" sz="1999" u="none" strike="noStrike" spc="-39" dirty="0">
                <a:solidFill>
                  <a:srgbClr val="1C191A"/>
                </a:solidFill>
                <a:latin typeface="Inter"/>
                <a:ea typeface="Inter"/>
                <a:cs typeface="Inter"/>
                <a:sym typeface="Inter"/>
              </a:rPr>
              <a:t>After calculating the TF-IDF score of each word in the dataset, I picked up the top 200 words. These are the words which came most frequently among the tweets. I will build the word co-occurrence network on the vocabulary of these 200 words. </a:t>
            </a:r>
          </a:p>
          <a:p>
            <a:pPr marL="0" lvl="0" indent="0" algn="l">
              <a:lnSpc>
                <a:spcPts val="2799"/>
              </a:lnSpc>
              <a:spcBef>
                <a:spcPct val="0"/>
              </a:spcBef>
            </a:pPr>
            <a:endParaRPr lang="en-US" sz="1999" i="1" u="none" strike="noStrike" spc="-39" dirty="0">
              <a:solidFill>
                <a:srgbClr val="1C191A"/>
              </a:solidFill>
              <a:latin typeface="Inter"/>
              <a:ea typeface="Inter"/>
              <a:cs typeface="Inter"/>
              <a:sym typeface="Inter"/>
            </a:endParaRPr>
          </a:p>
        </p:txBody>
      </p:sp>
      <p:pic>
        <p:nvPicPr>
          <p:cNvPr id="19" name="Picture 18">
            <a:extLst>
              <a:ext uri="{FF2B5EF4-FFF2-40B4-BE49-F238E27FC236}">
                <a16:creationId xmlns:a16="http://schemas.microsoft.com/office/drawing/2014/main" id="{0B6D9F7B-09FC-4770-1FDB-AE17E07A2CBC}"/>
              </a:ext>
            </a:extLst>
          </p:cNvPr>
          <p:cNvPicPr>
            <a:picLocks noChangeAspect="1"/>
          </p:cNvPicPr>
          <p:nvPr/>
        </p:nvPicPr>
        <p:blipFill>
          <a:blip r:embed="rId4"/>
          <a:stretch>
            <a:fillRect/>
          </a:stretch>
        </p:blipFill>
        <p:spPr>
          <a:xfrm>
            <a:off x="3756283" y="2962180"/>
            <a:ext cx="5415426" cy="674119"/>
          </a:xfrm>
          <a:prstGeom prst="rect">
            <a:avLst/>
          </a:prstGeom>
        </p:spPr>
      </p:pic>
      <p:pic>
        <p:nvPicPr>
          <p:cNvPr id="22" name="Picture 21">
            <a:extLst>
              <a:ext uri="{FF2B5EF4-FFF2-40B4-BE49-F238E27FC236}">
                <a16:creationId xmlns:a16="http://schemas.microsoft.com/office/drawing/2014/main" id="{324A1D4A-A5BB-2519-EBD2-D6661275DF6F}"/>
              </a:ext>
            </a:extLst>
          </p:cNvPr>
          <p:cNvPicPr>
            <a:picLocks noChangeAspect="1"/>
          </p:cNvPicPr>
          <p:nvPr/>
        </p:nvPicPr>
        <p:blipFill>
          <a:blip r:embed="rId5"/>
          <a:stretch>
            <a:fillRect/>
          </a:stretch>
        </p:blipFill>
        <p:spPr>
          <a:xfrm>
            <a:off x="3330644" y="4512304"/>
            <a:ext cx="6182690" cy="560685"/>
          </a:xfrm>
          <a:prstGeom prst="rect">
            <a:avLst/>
          </a:prstGeom>
        </p:spPr>
      </p:pic>
      <p:pic>
        <p:nvPicPr>
          <p:cNvPr id="11" name="Picture 10">
            <a:extLst>
              <a:ext uri="{FF2B5EF4-FFF2-40B4-BE49-F238E27FC236}">
                <a16:creationId xmlns:a16="http://schemas.microsoft.com/office/drawing/2014/main" id="{815F6EF8-74C7-9E7A-6033-3F5AF4CD0BE4}"/>
              </a:ext>
            </a:extLst>
          </p:cNvPr>
          <p:cNvPicPr>
            <a:picLocks noChangeAspect="1"/>
          </p:cNvPicPr>
          <p:nvPr/>
        </p:nvPicPr>
        <p:blipFill>
          <a:blip r:embed="rId6"/>
          <a:stretch>
            <a:fillRect/>
          </a:stretch>
        </p:blipFill>
        <p:spPr>
          <a:xfrm>
            <a:off x="12998066" y="163495"/>
            <a:ext cx="3842134" cy="9258301"/>
          </a:xfrm>
          <a:prstGeom prst="rect">
            <a:avLst/>
          </a:prstGeom>
        </p:spPr>
      </p:pic>
    </p:spTree>
    <p:extLst>
      <p:ext uri="{BB962C8B-B14F-4D97-AF65-F5344CB8AC3E}">
        <p14:creationId xmlns:p14="http://schemas.microsoft.com/office/powerpoint/2010/main" val="3404530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D1C4D9C-CE8F-F75F-9595-96E10E81B839}"/>
              </a:ext>
            </a:extLst>
          </p:cNvPr>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sp>
        <p:nvSpPr>
          <p:cNvPr id="9" name="Freeform 7">
            <a:extLst>
              <a:ext uri="{FF2B5EF4-FFF2-40B4-BE49-F238E27FC236}">
                <a16:creationId xmlns:a16="http://schemas.microsoft.com/office/drawing/2014/main" id="{78D65B81-4F9E-8BF1-368C-69109AA103D3}"/>
              </a:ext>
            </a:extLst>
          </p:cNvPr>
          <p:cNvSpPr/>
          <p:nvPr/>
        </p:nvSpPr>
        <p:spPr>
          <a:xfrm rot="5400000">
            <a:off x="1981200" y="571500"/>
            <a:ext cx="1207268" cy="1207268"/>
          </a:xfrm>
          <a:custGeom>
            <a:avLst/>
            <a:gdLst/>
            <a:ahLst/>
            <a:cxnLst/>
            <a:rect l="l" t="t" r="r" b="b"/>
            <a:pathLst>
              <a:path w="1207268" h="1207268">
                <a:moveTo>
                  <a:pt x="0" y="0"/>
                </a:moveTo>
                <a:lnTo>
                  <a:pt x="1207267" y="0"/>
                </a:lnTo>
                <a:lnTo>
                  <a:pt x="1207267" y="1207267"/>
                </a:lnTo>
                <a:lnTo>
                  <a:pt x="0" y="1207267"/>
                </a:lnTo>
                <a:lnTo>
                  <a:pt x="0" y="0"/>
                </a:lnTo>
                <a:close/>
              </a:path>
            </a:pathLst>
          </a:custGeom>
          <a:blipFill>
            <a:blip r:embed="rId3"/>
            <a:stretch>
              <a:fillRect t="-27701" b="-22392"/>
            </a:stretch>
          </a:blipFill>
        </p:spPr>
      </p:sp>
      <p:sp>
        <p:nvSpPr>
          <p:cNvPr id="10" name="TextBox 8">
            <a:extLst>
              <a:ext uri="{FF2B5EF4-FFF2-40B4-BE49-F238E27FC236}">
                <a16:creationId xmlns:a16="http://schemas.microsoft.com/office/drawing/2014/main" id="{8F64B16B-7A97-B015-1636-EDA90E95813B}"/>
              </a:ext>
            </a:extLst>
          </p:cNvPr>
          <p:cNvSpPr txBox="1"/>
          <p:nvPr/>
        </p:nvSpPr>
        <p:spPr>
          <a:xfrm>
            <a:off x="2080234" y="1021245"/>
            <a:ext cx="1009199" cy="307777"/>
          </a:xfrm>
          <a:prstGeom prst="rect">
            <a:avLst/>
          </a:prstGeom>
        </p:spPr>
        <p:txBody>
          <a:bodyPr lIns="0" tIns="0" rIns="0" bIns="0" rtlCol="0" anchor="t">
            <a:spAutoFit/>
          </a:bodyPr>
          <a:lstStyle/>
          <a:p>
            <a:pPr marL="0" lvl="0" indent="0" algn="ctr">
              <a:lnSpc>
                <a:spcPts val="2400"/>
              </a:lnSpc>
              <a:spcBef>
                <a:spcPct val="0"/>
              </a:spcBef>
            </a:pPr>
            <a:r>
              <a:rPr lang="en-US" sz="2400" b="1" dirty="0">
                <a:solidFill>
                  <a:srgbClr val="1C3F60"/>
                </a:solidFill>
                <a:latin typeface="Inter Bold"/>
                <a:ea typeface="Inter Bold"/>
                <a:cs typeface="Inter Bold"/>
                <a:sym typeface="Inter Bold"/>
              </a:rPr>
              <a:t>03</a:t>
            </a:r>
            <a:endParaRPr lang="en-US" sz="2400" b="1" u="none" strike="noStrike" dirty="0">
              <a:solidFill>
                <a:srgbClr val="1C3F60"/>
              </a:solidFill>
              <a:latin typeface="Inter Bold"/>
              <a:ea typeface="Inter Bold"/>
              <a:cs typeface="Inter Bold"/>
              <a:sym typeface="Inter Bold"/>
            </a:endParaRPr>
          </a:p>
        </p:txBody>
      </p:sp>
      <p:sp>
        <p:nvSpPr>
          <p:cNvPr id="11" name="TextBox 14">
            <a:extLst>
              <a:ext uri="{FF2B5EF4-FFF2-40B4-BE49-F238E27FC236}">
                <a16:creationId xmlns:a16="http://schemas.microsoft.com/office/drawing/2014/main" id="{5B7D02BF-A874-1044-B8AF-388447F24706}"/>
              </a:ext>
            </a:extLst>
          </p:cNvPr>
          <p:cNvSpPr txBox="1"/>
          <p:nvPr/>
        </p:nvSpPr>
        <p:spPr>
          <a:xfrm>
            <a:off x="3429000" y="623735"/>
            <a:ext cx="7592648" cy="397510"/>
          </a:xfrm>
          <a:prstGeom prst="rect">
            <a:avLst/>
          </a:prstGeom>
        </p:spPr>
        <p:txBody>
          <a:bodyPr lIns="0" tIns="0" rIns="0" bIns="0" rtlCol="0" anchor="t">
            <a:spAutoFit/>
          </a:bodyPr>
          <a:lstStyle/>
          <a:p>
            <a:pPr>
              <a:lnSpc>
                <a:spcPts val="3079"/>
              </a:lnSpc>
            </a:pPr>
            <a:r>
              <a:rPr lang="en-US" sz="2799" b="1" dirty="0">
                <a:solidFill>
                  <a:srgbClr val="1C3F60"/>
                </a:solidFill>
                <a:latin typeface="Inter Bold"/>
                <a:ea typeface="Inter Bold"/>
                <a:cs typeface="Inter Bold"/>
                <a:sym typeface="Inter Bold"/>
              </a:rPr>
              <a:t>Building the Word Co-occurrence Network</a:t>
            </a:r>
          </a:p>
        </p:txBody>
      </p:sp>
      <mc:AlternateContent xmlns:mc="http://schemas.openxmlformats.org/markup-compatibility/2006" xmlns:a14="http://schemas.microsoft.com/office/drawing/2010/main">
        <mc:Choice Requires="a14">
          <p:sp>
            <p:nvSpPr>
              <p:cNvPr id="12" name="TextBox 10">
                <a:extLst>
                  <a:ext uri="{FF2B5EF4-FFF2-40B4-BE49-F238E27FC236}">
                    <a16:creationId xmlns:a16="http://schemas.microsoft.com/office/drawing/2014/main" id="{F6CF915A-9B4E-85B5-687E-A0DDD9A8DA31}"/>
                  </a:ext>
                </a:extLst>
              </p:cNvPr>
              <p:cNvSpPr txBox="1"/>
              <p:nvPr/>
            </p:nvSpPr>
            <p:spPr>
              <a:xfrm>
                <a:off x="3463636" y="1329022"/>
                <a:ext cx="14367164" cy="7871129"/>
              </a:xfrm>
              <a:prstGeom prst="rect">
                <a:avLst/>
              </a:prstGeom>
            </p:spPr>
            <p:txBody>
              <a:bodyPr wrap="square" lIns="0" tIns="0" rIns="0" bIns="0" rtlCol="0" anchor="t">
                <a:spAutoFit/>
              </a:bodyPr>
              <a:lstStyle/>
              <a:p>
                <a:pPr marL="0" lvl="0" indent="0" algn="l">
                  <a:lnSpc>
                    <a:spcPts val="2799"/>
                  </a:lnSpc>
                  <a:spcBef>
                    <a:spcPct val="0"/>
                  </a:spcBef>
                </a:pPr>
                <a:r>
                  <a:rPr lang="en-US" sz="1999" spc="-39" dirty="0">
                    <a:solidFill>
                      <a:srgbClr val="1C191A"/>
                    </a:solidFill>
                    <a:latin typeface="Inter"/>
                    <a:ea typeface="Inter"/>
                    <a:cs typeface="Inter"/>
                    <a:sym typeface="Inter"/>
                  </a:rPr>
                  <a:t>After retrieving the list of top 200 words from the dataset that has the maximum frequency, I tried to build a word co-occurrence network out of them. The idea is to present each word as a node and if any two words have appeared in same tweets more than twice, they will have an edge in between, where the weight of the edge would be the total number of tweets in which both of those words appeared. </a:t>
                </a:r>
              </a:p>
              <a:p>
                <a:pPr marL="0" lvl="0" indent="0" algn="l">
                  <a:lnSpc>
                    <a:spcPts val="2799"/>
                  </a:lnSpc>
                  <a:spcBef>
                    <a:spcPct val="0"/>
                  </a:spcBef>
                </a:pPr>
                <a:endParaRPr lang="en-US" sz="1999" u="none" strike="noStrike" spc="-39" dirty="0">
                  <a:solidFill>
                    <a:srgbClr val="1C191A"/>
                  </a:solidFill>
                  <a:latin typeface="Inter"/>
                  <a:ea typeface="Inter"/>
                  <a:cs typeface="Inter"/>
                  <a:sym typeface="Inter"/>
                </a:endParaRPr>
              </a:p>
              <a:p>
                <a:pPr marL="0" lvl="0" indent="0" algn="l">
                  <a:lnSpc>
                    <a:spcPts val="2799"/>
                  </a:lnSpc>
                  <a:spcBef>
                    <a:spcPct val="0"/>
                  </a:spcBef>
                </a:pPr>
                <a:r>
                  <a:rPr lang="en-US" sz="1999" u="none" strike="noStrike" spc="-39" dirty="0">
                    <a:solidFill>
                      <a:srgbClr val="1C191A"/>
                    </a:solidFill>
                    <a:latin typeface="Inter"/>
                    <a:ea typeface="Inter"/>
                    <a:cs typeface="Inter"/>
                    <a:sym typeface="Inter"/>
                  </a:rPr>
                  <a:t>I used simple linear algebra techniques to build this net</a:t>
                </a:r>
                <a:r>
                  <a:rPr lang="en-US" sz="1999" spc="-39" dirty="0">
                    <a:solidFill>
                      <a:srgbClr val="1C191A"/>
                    </a:solidFill>
                    <a:latin typeface="Inter"/>
                    <a:ea typeface="Inter"/>
                    <a:cs typeface="Inter"/>
                    <a:sym typeface="Inter"/>
                  </a:rPr>
                  <a:t>work. Primarily I used </a:t>
                </a:r>
                <a:r>
                  <a:rPr lang="en-US" sz="1999" b="1" spc="-39" dirty="0" err="1">
                    <a:solidFill>
                      <a:srgbClr val="1C191A"/>
                    </a:solidFill>
                    <a:latin typeface="Inter"/>
                    <a:ea typeface="Inter"/>
                    <a:cs typeface="Inter"/>
                    <a:sym typeface="Inter"/>
                  </a:rPr>
                  <a:t>CountVectorizer</a:t>
                </a:r>
                <a:r>
                  <a:rPr lang="en-US" sz="1999" spc="-39" dirty="0">
                    <a:solidFill>
                      <a:srgbClr val="1C191A"/>
                    </a:solidFill>
                    <a:latin typeface="Inter"/>
                    <a:ea typeface="Inter"/>
                    <a:cs typeface="Inter"/>
                    <a:sym typeface="Inter"/>
                  </a:rPr>
                  <a:t> from scikit-learn to form a matrix that will tell if a certain word has appeared in a tweet. It is a Binary matrix. If the cell value is 1 then the corresponding word is present in the corresponding tweet, else it is not present. This way a 12500x200 dimension matrix is formed. </a:t>
                </a: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r>
                  <a:rPr lang="en-US" sz="1999" spc="-39" dirty="0">
                    <a:solidFill>
                      <a:srgbClr val="1C191A"/>
                    </a:solidFill>
                    <a:latin typeface="Inter"/>
                    <a:ea typeface="Inter"/>
                    <a:cs typeface="Inter"/>
                    <a:sym typeface="Inter"/>
                  </a:rPr>
                  <a:t>Now that the word-tweet matrix is available, I calculated the dot product of the matrix with it’s transpose to get the word-co-occurrence matrix.</a:t>
                </a:r>
              </a:p>
              <a:p>
                <a:pPr lvl="0">
                  <a:lnSpc>
                    <a:spcPts val="2799"/>
                  </a:lnSpc>
                  <a:spcBef>
                    <a:spcPct val="0"/>
                  </a:spcBef>
                </a:pPr>
                <a14:m>
                  <m:oMathPara xmlns:m="http://schemas.openxmlformats.org/officeDocument/2006/math">
                    <m:oMathParaPr>
                      <m:jc m:val="centerGroup"/>
                    </m:oMathParaPr>
                    <m:oMath xmlns:m="http://schemas.openxmlformats.org/officeDocument/2006/math">
                      <m:r>
                        <a:rPr lang="en-US" sz="1999" b="0" i="1" u="none" strike="noStrike" spc="-39" smtClean="0">
                          <a:solidFill>
                            <a:srgbClr val="1C191A"/>
                          </a:solidFill>
                          <a:latin typeface="Cambria Math" panose="02040503050406030204" pitchFamily="18" charset="0"/>
                          <a:ea typeface="Inter"/>
                          <a:cs typeface="Inter"/>
                          <a:sym typeface="Inter"/>
                        </a:rPr>
                        <m:t>𝑤𝑜𝑟</m:t>
                      </m:r>
                      <m:sSub>
                        <m:sSubPr>
                          <m:ctrlPr>
                            <a:rPr lang="en-US" sz="1999" b="0" i="1" u="none" strike="noStrike" spc="-39" smtClean="0">
                              <a:solidFill>
                                <a:srgbClr val="1C191A"/>
                              </a:solidFill>
                              <a:latin typeface="Cambria Math" panose="02040503050406030204" pitchFamily="18" charset="0"/>
                              <a:ea typeface="Inter"/>
                              <a:cs typeface="Inter"/>
                              <a:sym typeface="Inter"/>
                            </a:rPr>
                          </m:ctrlPr>
                        </m:sSubPr>
                        <m:e>
                          <m:r>
                            <a:rPr lang="en-US" sz="1999" b="0" i="1" u="none" strike="noStrike" spc="-39" smtClean="0">
                              <a:solidFill>
                                <a:srgbClr val="1C191A"/>
                              </a:solidFill>
                              <a:latin typeface="Cambria Math" panose="02040503050406030204" pitchFamily="18" charset="0"/>
                              <a:ea typeface="Inter"/>
                              <a:cs typeface="Inter"/>
                              <a:sym typeface="Inter"/>
                            </a:rPr>
                            <m:t>𝑑</m:t>
                          </m:r>
                        </m:e>
                        <m:sub>
                          <m:r>
                            <a:rPr lang="en-US" sz="1999" b="0" i="1" u="none" strike="noStrike" spc="-39" smtClean="0">
                              <a:solidFill>
                                <a:srgbClr val="1C191A"/>
                              </a:solidFill>
                              <a:latin typeface="Cambria Math" panose="02040503050406030204" pitchFamily="18" charset="0"/>
                              <a:ea typeface="Inter"/>
                              <a:cs typeface="Inter"/>
                              <a:sym typeface="Inter"/>
                            </a:rPr>
                            <m:t>𝑐𝑜𝑜𝑐𝑐𝑢𝑟𝑟𝑒𝑛𝑐𝑒</m:t>
                          </m:r>
                        </m:sub>
                      </m:sSub>
                      <m:r>
                        <a:rPr lang="en-US" sz="1999" b="0" i="1" u="none" strike="noStrike" spc="-39" smtClean="0">
                          <a:solidFill>
                            <a:srgbClr val="1C191A"/>
                          </a:solidFill>
                          <a:latin typeface="Cambria Math" panose="02040503050406030204" pitchFamily="18" charset="0"/>
                          <a:ea typeface="Inter"/>
                          <a:cs typeface="Inter"/>
                          <a:sym typeface="Inter"/>
                        </a:rPr>
                        <m:t>=</m:t>
                      </m:r>
                      <m:sSup>
                        <m:sSupPr>
                          <m:ctrlPr>
                            <a:rPr lang="en-US" sz="1999" b="0" i="1" u="none" strike="noStrike" spc="-39" smtClean="0">
                              <a:solidFill>
                                <a:srgbClr val="1C191A"/>
                              </a:solidFill>
                              <a:latin typeface="Cambria Math" panose="02040503050406030204" pitchFamily="18" charset="0"/>
                              <a:ea typeface="Inter"/>
                              <a:sym typeface="Inter"/>
                            </a:rPr>
                          </m:ctrlPr>
                        </m:sSupPr>
                        <m:e>
                          <m:d>
                            <m:dPr>
                              <m:ctrlPr>
                                <a:rPr lang="en-US" sz="1999" i="1" spc="-39">
                                  <a:solidFill>
                                    <a:srgbClr val="1C191A"/>
                                  </a:solidFill>
                                  <a:latin typeface="Cambria Math" panose="02040503050406030204" pitchFamily="18" charset="0"/>
                                  <a:ea typeface="Inter"/>
                                  <a:cs typeface="Inter"/>
                                  <a:sym typeface="Inter"/>
                                </a:rPr>
                              </m:ctrlPr>
                            </m:dPr>
                            <m:e>
                              <m:r>
                                <a:rPr lang="en-US" sz="1999" i="1" spc="-39">
                                  <a:solidFill>
                                    <a:srgbClr val="1C191A"/>
                                  </a:solidFill>
                                  <a:latin typeface="Cambria Math" panose="02040503050406030204" pitchFamily="18" charset="0"/>
                                  <a:ea typeface="Inter"/>
                                  <a:cs typeface="Inter"/>
                                  <a:sym typeface="Inter"/>
                                </a:rPr>
                                <m:t>𝑤𝑜𝑟</m:t>
                              </m:r>
                              <m:sSub>
                                <m:sSubPr>
                                  <m:ctrlPr>
                                    <a:rPr lang="en-US" sz="1999" i="1" spc="-39">
                                      <a:solidFill>
                                        <a:srgbClr val="1C191A"/>
                                      </a:solidFill>
                                      <a:latin typeface="Cambria Math" panose="02040503050406030204" pitchFamily="18" charset="0"/>
                                      <a:ea typeface="Inter"/>
                                      <a:cs typeface="Inter"/>
                                      <a:sym typeface="Inter"/>
                                    </a:rPr>
                                  </m:ctrlPr>
                                </m:sSubPr>
                                <m:e>
                                  <m:r>
                                    <a:rPr lang="en-US" sz="1999" i="1" spc="-39">
                                      <a:solidFill>
                                        <a:srgbClr val="1C191A"/>
                                      </a:solidFill>
                                      <a:latin typeface="Cambria Math" panose="02040503050406030204" pitchFamily="18" charset="0"/>
                                      <a:ea typeface="Inter"/>
                                      <a:cs typeface="Inter"/>
                                      <a:sym typeface="Inter"/>
                                    </a:rPr>
                                    <m:t>𝑑</m:t>
                                  </m:r>
                                </m:e>
                                <m:sub>
                                  <m:r>
                                    <a:rPr lang="en-US" sz="1999" i="1" spc="-39">
                                      <a:solidFill>
                                        <a:srgbClr val="1C191A"/>
                                      </a:solidFill>
                                      <a:latin typeface="Cambria Math" panose="02040503050406030204" pitchFamily="18" charset="0"/>
                                      <a:ea typeface="Inter"/>
                                      <a:cs typeface="Inter"/>
                                      <a:sym typeface="Inter"/>
                                    </a:rPr>
                                    <m:t>𝑡𝑤𝑒𝑒𝑡</m:t>
                                  </m:r>
                                </m:sub>
                              </m:sSub>
                            </m:e>
                          </m:d>
                        </m:e>
                        <m:sup>
                          <m:r>
                            <a:rPr lang="en-US" sz="1999" b="0" i="1" u="none" strike="noStrike" spc="-39" smtClean="0">
                              <a:solidFill>
                                <a:srgbClr val="1C191A"/>
                              </a:solidFill>
                              <a:latin typeface="Cambria Math" panose="02040503050406030204" pitchFamily="18" charset="0"/>
                              <a:ea typeface="Inter"/>
                              <a:sym typeface="Inter"/>
                            </a:rPr>
                            <m:t>𝑇</m:t>
                          </m:r>
                        </m:sup>
                      </m:sSup>
                      <m:r>
                        <a:rPr lang="en-US" sz="1999" b="0" i="1" u="none" strike="noStrike" spc="-39" smtClean="0">
                          <a:solidFill>
                            <a:srgbClr val="1C191A"/>
                          </a:solidFill>
                          <a:latin typeface="Cambria Math" panose="02040503050406030204" pitchFamily="18" charset="0"/>
                          <a:ea typeface="Cambria Math" panose="02040503050406030204" pitchFamily="18" charset="0"/>
                          <a:sym typeface="Inter"/>
                        </a:rPr>
                        <m:t>∙(</m:t>
                      </m:r>
                      <m:r>
                        <a:rPr lang="en-US" sz="1999" b="0" i="1" u="none" strike="noStrike" spc="-39" smtClean="0">
                          <a:solidFill>
                            <a:srgbClr val="1C191A"/>
                          </a:solidFill>
                          <a:latin typeface="Cambria Math" panose="02040503050406030204" pitchFamily="18" charset="0"/>
                          <a:ea typeface="Cambria Math" panose="02040503050406030204" pitchFamily="18" charset="0"/>
                          <a:sym typeface="Inter"/>
                        </a:rPr>
                        <m:t>𝑤𝑜𝑟</m:t>
                      </m:r>
                      <m:sSub>
                        <m:sSubPr>
                          <m:ctrlPr>
                            <a:rPr lang="en-US" sz="1999" b="0" i="1" u="none" strike="noStrike" spc="-39" smtClean="0">
                              <a:solidFill>
                                <a:srgbClr val="1C191A"/>
                              </a:solidFill>
                              <a:latin typeface="Cambria Math" panose="02040503050406030204" pitchFamily="18" charset="0"/>
                              <a:ea typeface="Cambria Math" panose="02040503050406030204" pitchFamily="18" charset="0"/>
                              <a:sym typeface="Inter"/>
                            </a:rPr>
                          </m:ctrlPr>
                        </m:sSubPr>
                        <m:e>
                          <m:r>
                            <a:rPr lang="en-US" sz="1999" b="0" i="1" u="none" strike="noStrike" spc="-39" smtClean="0">
                              <a:solidFill>
                                <a:srgbClr val="1C191A"/>
                              </a:solidFill>
                              <a:latin typeface="Cambria Math" panose="02040503050406030204" pitchFamily="18" charset="0"/>
                              <a:ea typeface="Cambria Math" panose="02040503050406030204" pitchFamily="18" charset="0"/>
                              <a:sym typeface="Inter"/>
                            </a:rPr>
                            <m:t>𝑑</m:t>
                          </m:r>
                        </m:e>
                        <m:sub>
                          <m:r>
                            <a:rPr lang="en-US" sz="1999" b="0" i="1" u="none" strike="noStrike" spc="-39" smtClean="0">
                              <a:solidFill>
                                <a:srgbClr val="1C191A"/>
                              </a:solidFill>
                              <a:latin typeface="Cambria Math" panose="02040503050406030204" pitchFamily="18" charset="0"/>
                              <a:ea typeface="Cambria Math" panose="02040503050406030204" pitchFamily="18" charset="0"/>
                              <a:sym typeface="Inter"/>
                            </a:rPr>
                            <m:t>𝑡𝑤𝑒𝑒𝑡</m:t>
                          </m:r>
                        </m:sub>
                      </m:sSub>
                      <m:r>
                        <a:rPr lang="en-US" sz="1999" b="0" i="1" u="none" strike="noStrike" spc="-39" smtClean="0">
                          <a:solidFill>
                            <a:srgbClr val="1C191A"/>
                          </a:solidFill>
                          <a:latin typeface="Cambria Math" panose="02040503050406030204" pitchFamily="18" charset="0"/>
                          <a:ea typeface="Cambria Math" panose="02040503050406030204" pitchFamily="18" charset="0"/>
                          <a:sym typeface="Inter"/>
                        </a:rPr>
                        <m:t>)</m:t>
                      </m:r>
                    </m:oMath>
                  </m:oMathPara>
                </a14:m>
                <a:endParaRPr lang="en-US" sz="1999" u="none" strike="noStrike" spc="-39" dirty="0">
                  <a:solidFill>
                    <a:srgbClr val="1C191A"/>
                  </a:solidFill>
                  <a:latin typeface="Inter"/>
                  <a:ea typeface="Inter"/>
                  <a:cs typeface="Inter"/>
                  <a:sym typeface="Inter"/>
                </a:endParaRPr>
              </a:p>
              <a:p>
                <a:pPr lvl="0">
                  <a:lnSpc>
                    <a:spcPts val="2799"/>
                  </a:lnSpc>
                  <a:spcBef>
                    <a:spcPct val="0"/>
                  </a:spcBef>
                </a:pPr>
                <a:endParaRPr lang="en-US" sz="1999" spc="-39" dirty="0">
                  <a:solidFill>
                    <a:srgbClr val="1C191A"/>
                  </a:solidFill>
                  <a:latin typeface="Inter"/>
                  <a:ea typeface="Inter"/>
                  <a:cs typeface="Inter"/>
                  <a:sym typeface="Inter"/>
                </a:endParaRPr>
              </a:p>
              <a:p>
                <a:pPr lvl="0">
                  <a:lnSpc>
                    <a:spcPts val="2799"/>
                  </a:lnSpc>
                  <a:spcBef>
                    <a:spcPct val="0"/>
                  </a:spcBef>
                </a:pPr>
                <a:r>
                  <a:rPr lang="en-US" sz="1999" spc="-39" dirty="0">
                    <a:solidFill>
                      <a:srgbClr val="1C191A"/>
                    </a:solidFill>
                    <a:latin typeface="Inter"/>
                    <a:ea typeface="Inter"/>
                    <a:cs typeface="Inter"/>
                    <a:sym typeface="Inter"/>
                  </a:rPr>
                  <a:t>Finally, I used </a:t>
                </a:r>
                <a:r>
                  <a:rPr lang="en-US" sz="1999" i="1" spc="-39" dirty="0">
                    <a:solidFill>
                      <a:srgbClr val="1C191A"/>
                    </a:solidFill>
                    <a:latin typeface="Inter"/>
                    <a:ea typeface="Inter"/>
                    <a:cs typeface="Inter"/>
                    <a:sym typeface="Inter"/>
                  </a:rPr>
                  <a:t>coordinate list </a:t>
                </a:r>
                <a:r>
                  <a:rPr lang="en-US" sz="1999" spc="-39" dirty="0">
                    <a:solidFill>
                      <a:srgbClr val="1C191A"/>
                    </a:solidFill>
                    <a:latin typeface="Inter"/>
                    <a:ea typeface="Inter"/>
                    <a:cs typeface="Inter"/>
                    <a:sym typeface="Inter"/>
                  </a:rPr>
                  <a:t>format to store this word-cooccurrence matrix into a sparse matrix which will be easier to form a graph, after setting all diagonals as 0. Using </a:t>
                </a:r>
                <a:r>
                  <a:rPr lang="en-US" sz="1999" b="1" spc="-39" dirty="0" err="1">
                    <a:solidFill>
                      <a:srgbClr val="1C191A"/>
                    </a:solidFill>
                    <a:latin typeface="Inter"/>
                    <a:ea typeface="Inter"/>
                    <a:cs typeface="Inter"/>
                    <a:sym typeface="Inter"/>
                  </a:rPr>
                  <a:t>NetworkX</a:t>
                </a:r>
                <a:r>
                  <a:rPr lang="en-US" sz="1999" spc="-39" dirty="0">
                    <a:solidFill>
                      <a:srgbClr val="1C191A"/>
                    </a:solidFill>
                    <a:latin typeface="Inter"/>
                    <a:ea typeface="Inter"/>
                    <a:cs typeface="Inter"/>
                    <a:sym typeface="Inter"/>
                  </a:rPr>
                  <a:t> I built the graph.</a:t>
                </a:r>
              </a:p>
              <a:p>
                <a:pPr lvl="0">
                  <a:lnSpc>
                    <a:spcPts val="2799"/>
                  </a:lnSpc>
                  <a:spcBef>
                    <a:spcPct val="0"/>
                  </a:spcBef>
                </a:pPr>
                <a:endParaRPr lang="en-US" sz="1999" u="none" strike="noStrike" spc="-39" dirty="0">
                  <a:solidFill>
                    <a:srgbClr val="1C191A"/>
                  </a:solidFill>
                  <a:latin typeface="Inter"/>
                  <a:ea typeface="Inter"/>
                  <a:cs typeface="Inter"/>
                  <a:sym typeface="Inter"/>
                </a:endParaRPr>
              </a:p>
            </p:txBody>
          </p:sp>
        </mc:Choice>
        <mc:Fallback xmlns="">
          <p:sp>
            <p:nvSpPr>
              <p:cNvPr id="12" name="TextBox 10">
                <a:extLst>
                  <a:ext uri="{FF2B5EF4-FFF2-40B4-BE49-F238E27FC236}">
                    <a16:creationId xmlns:a16="http://schemas.microsoft.com/office/drawing/2014/main" id="{F6CF915A-9B4E-85B5-687E-A0DDD9A8DA31}"/>
                  </a:ext>
                </a:extLst>
              </p:cNvPr>
              <p:cNvSpPr txBox="1">
                <a:spLocks noRot="1" noChangeAspect="1" noMove="1" noResize="1" noEditPoints="1" noAdjustHandles="1" noChangeArrowheads="1" noChangeShapeType="1" noTextEdit="1"/>
              </p:cNvSpPr>
              <p:nvPr/>
            </p:nvSpPr>
            <p:spPr>
              <a:xfrm>
                <a:off x="3463636" y="1329022"/>
                <a:ext cx="14367164" cy="7871129"/>
              </a:xfrm>
              <a:prstGeom prst="rect">
                <a:avLst/>
              </a:prstGeom>
              <a:blipFill>
                <a:blip r:embed="rId4"/>
                <a:stretch>
                  <a:fillRect l="-1061" t="-697" r="-1018"/>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2C41F449-5EC7-2D9B-BC17-F22A9FC2C34B}"/>
              </a:ext>
            </a:extLst>
          </p:cNvPr>
          <p:cNvGraphicFramePr>
            <a:graphicFrameLocks noGrp="1"/>
          </p:cNvGraphicFramePr>
          <p:nvPr>
            <p:extLst>
              <p:ext uri="{D42A27DB-BD31-4B8C-83A1-F6EECF244321}">
                <p14:modId xmlns:p14="http://schemas.microsoft.com/office/powerpoint/2010/main" val="3766098291"/>
              </p:ext>
            </p:extLst>
          </p:nvPr>
        </p:nvGraphicFramePr>
        <p:xfrm>
          <a:off x="7225324" y="4522906"/>
          <a:ext cx="5498332" cy="1483360"/>
        </p:xfrm>
        <a:graphic>
          <a:graphicData uri="http://schemas.openxmlformats.org/drawingml/2006/table">
            <a:tbl>
              <a:tblPr firstRow="1" bandRow="1">
                <a:tableStyleId>{7DF18680-E054-41AD-8BC1-D1AEF772440D}</a:tableStyleId>
              </a:tblPr>
              <a:tblGrid>
                <a:gridCol w="1354282">
                  <a:extLst>
                    <a:ext uri="{9D8B030D-6E8A-4147-A177-3AD203B41FA5}">
                      <a16:colId xmlns:a16="http://schemas.microsoft.com/office/drawing/2014/main" val="292411459"/>
                    </a:ext>
                  </a:extLst>
                </a:gridCol>
                <a:gridCol w="1143000">
                  <a:extLst>
                    <a:ext uri="{9D8B030D-6E8A-4147-A177-3AD203B41FA5}">
                      <a16:colId xmlns:a16="http://schemas.microsoft.com/office/drawing/2014/main" val="3892641821"/>
                    </a:ext>
                  </a:extLst>
                </a:gridCol>
                <a:gridCol w="1600200">
                  <a:extLst>
                    <a:ext uri="{9D8B030D-6E8A-4147-A177-3AD203B41FA5}">
                      <a16:colId xmlns:a16="http://schemas.microsoft.com/office/drawing/2014/main" val="926660134"/>
                    </a:ext>
                  </a:extLst>
                </a:gridCol>
                <a:gridCol w="1400850">
                  <a:extLst>
                    <a:ext uri="{9D8B030D-6E8A-4147-A177-3AD203B41FA5}">
                      <a16:colId xmlns:a16="http://schemas.microsoft.com/office/drawing/2014/main" val="597039271"/>
                    </a:ext>
                  </a:extLst>
                </a:gridCol>
              </a:tblGrid>
              <a:tr h="370840">
                <a:tc>
                  <a:txBody>
                    <a:bodyPr/>
                    <a:lstStyle/>
                    <a:p>
                      <a:pPr algn="ctr"/>
                      <a:endParaRPr lang="en-US" dirty="0"/>
                    </a:p>
                  </a:txBody>
                  <a:tcPr/>
                </a:tc>
                <a:tc>
                  <a:txBody>
                    <a:bodyPr/>
                    <a:lstStyle/>
                    <a:p>
                      <a:pPr algn="ctr"/>
                      <a:r>
                        <a:rPr lang="en-US" dirty="0"/>
                        <a:t>Word 1</a:t>
                      </a:r>
                    </a:p>
                  </a:txBody>
                  <a:tcPr/>
                </a:tc>
                <a:tc>
                  <a:txBody>
                    <a:bodyPr/>
                    <a:lstStyle/>
                    <a:p>
                      <a:pPr algn="ctr"/>
                      <a:r>
                        <a:rPr lang="en-US" dirty="0"/>
                        <a:t>Word 2</a:t>
                      </a:r>
                    </a:p>
                  </a:txBody>
                  <a:tcPr/>
                </a:tc>
                <a:tc>
                  <a:txBody>
                    <a:bodyPr/>
                    <a:lstStyle/>
                    <a:p>
                      <a:pPr algn="ctr"/>
                      <a:r>
                        <a:rPr lang="en-US" dirty="0"/>
                        <a:t>Word 3</a:t>
                      </a:r>
                    </a:p>
                  </a:txBody>
                  <a:tcPr/>
                </a:tc>
                <a:extLst>
                  <a:ext uri="{0D108BD9-81ED-4DB2-BD59-A6C34878D82A}">
                    <a16:rowId xmlns:a16="http://schemas.microsoft.com/office/drawing/2014/main" val="1493069704"/>
                  </a:ext>
                </a:extLst>
              </a:tr>
              <a:tr h="370840">
                <a:tc>
                  <a:txBody>
                    <a:bodyPr/>
                    <a:lstStyle/>
                    <a:p>
                      <a:pPr algn="ctr"/>
                      <a:r>
                        <a:rPr lang="en-US" dirty="0"/>
                        <a:t>Tweet 1</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232934546"/>
                  </a:ext>
                </a:extLst>
              </a:tr>
              <a:tr h="370840">
                <a:tc>
                  <a:txBody>
                    <a:bodyPr/>
                    <a:lstStyle/>
                    <a:p>
                      <a:pPr algn="ctr"/>
                      <a:r>
                        <a:rPr lang="en-US" dirty="0"/>
                        <a:t>Tweet 2</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889537402"/>
                  </a:ext>
                </a:extLst>
              </a:tr>
              <a:tr h="370840">
                <a:tc>
                  <a:txBody>
                    <a:bodyPr/>
                    <a:lstStyle/>
                    <a:p>
                      <a:pPr algn="ctr"/>
                      <a:r>
                        <a:rPr lang="en-US" dirty="0"/>
                        <a:t>Tweet 3</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541426583"/>
                  </a:ext>
                </a:extLst>
              </a:tr>
            </a:tbl>
          </a:graphicData>
        </a:graphic>
      </p:graphicFrame>
    </p:spTree>
    <p:extLst>
      <p:ext uri="{BB962C8B-B14F-4D97-AF65-F5344CB8AC3E}">
        <p14:creationId xmlns:p14="http://schemas.microsoft.com/office/powerpoint/2010/main" val="2334170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FA6D79E6-D26A-BE58-F7D9-A3115B7CE90B}"/>
              </a:ext>
            </a:extLst>
          </p:cNvPr>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sp>
        <p:nvSpPr>
          <p:cNvPr id="3" name="Freeform 7">
            <a:extLst>
              <a:ext uri="{FF2B5EF4-FFF2-40B4-BE49-F238E27FC236}">
                <a16:creationId xmlns:a16="http://schemas.microsoft.com/office/drawing/2014/main" id="{CE9795FF-E458-6273-0485-6E6F2C7F61E9}"/>
              </a:ext>
            </a:extLst>
          </p:cNvPr>
          <p:cNvSpPr/>
          <p:nvPr/>
        </p:nvSpPr>
        <p:spPr>
          <a:xfrm rot="5400000">
            <a:off x="1981200" y="571500"/>
            <a:ext cx="1207268" cy="1207268"/>
          </a:xfrm>
          <a:custGeom>
            <a:avLst/>
            <a:gdLst/>
            <a:ahLst/>
            <a:cxnLst/>
            <a:rect l="l" t="t" r="r" b="b"/>
            <a:pathLst>
              <a:path w="1207268" h="1207268">
                <a:moveTo>
                  <a:pt x="0" y="0"/>
                </a:moveTo>
                <a:lnTo>
                  <a:pt x="1207267" y="0"/>
                </a:lnTo>
                <a:lnTo>
                  <a:pt x="1207267" y="1207267"/>
                </a:lnTo>
                <a:lnTo>
                  <a:pt x="0" y="1207267"/>
                </a:lnTo>
                <a:lnTo>
                  <a:pt x="0" y="0"/>
                </a:lnTo>
                <a:close/>
              </a:path>
            </a:pathLst>
          </a:custGeom>
          <a:blipFill>
            <a:blip r:embed="rId3"/>
            <a:stretch>
              <a:fillRect t="-27701" b="-22392"/>
            </a:stretch>
          </a:blipFill>
        </p:spPr>
      </p:sp>
      <p:sp>
        <p:nvSpPr>
          <p:cNvPr id="4" name="TextBox 8">
            <a:extLst>
              <a:ext uri="{FF2B5EF4-FFF2-40B4-BE49-F238E27FC236}">
                <a16:creationId xmlns:a16="http://schemas.microsoft.com/office/drawing/2014/main" id="{CEF33DEC-9AE2-D072-953E-51C217C6512C}"/>
              </a:ext>
            </a:extLst>
          </p:cNvPr>
          <p:cNvSpPr txBox="1"/>
          <p:nvPr/>
        </p:nvSpPr>
        <p:spPr>
          <a:xfrm>
            <a:off x="2080234" y="1021245"/>
            <a:ext cx="1009199" cy="307777"/>
          </a:xfrm>
          <a:prstGeom prst="rect">
            <a:avLst/>
          </a:prstGeom>
        </p:spPr>
        <p:txBody>
          <a:bodyPr lIns="0" tIns="0" rIns="0" bIns="0" rtlCol="0" anchor="t">
            <a:spAutoFit/>
          </a:bodyPr>
          <a:lstStyle/>
          <a:p>
            <a:pPr marL="0" lvl="0" indent="0" algn="ctr">
              <a:lnSpc>
                <a:spcPts val="2400"/>
              </a:lnSpc>
              <a:spcBef>
                <a:spcPct val="0"/>
              </a:spcBef>
            </a:pPr>
            <a:r>
              <a:rPr lang="en-US" sz="2400" b="1" dirty="0">
                <a:solidFill>
                  <a:srgbClr val="1C3F60"/>
                </a:solidFill>
                <a:latin typeface="Inter Bold"/>
                <a:ea typeface="Inter Bold"/>
                <a:cs typeface="Inter Bold"/>
                <a:sym typeface="Inter Bold"/>
              </a:rPr>
              <a:t>04</a:t>
            </a:r>
            <a:endParaRPr lang="en-US" sz="2400" b="1" u="none" strike="noStrike" dirty="0">
              <a:solidFill>
                <a:srgbClr val="1C3F60"/>
              </a:solidFill>
              <a:latin typeface="Inter Bold"/>
              <a:ea typeface="Inter Bold"/>
              <a:cs typeface="Inter Bold"/>
              <a:sym typeface="Inter Bold"/>
            </a:endParaRPr>
          </a:p>
        </p:txBody>
      </p:sp>
      <p:sp>
        <p:nvSpPr>
          <p:cNvPr id="5" name="TextBox 14">
            <a:extLst>
              <a:ext uri="{FF2B5EF4-FFF2-40B4-BE49-F238E27FC236}">
                <a16:creationId xmlns:a16="http://schemas.microsoft.com/office/drawing/2014/main" id="{906F24F8-F612-BF0D-A43C-6EDAFCB9A8CB}"/>
              </a:ext>
            </a:extLst>
          </p:cNvPr>
          <p:cNvSpPr txBox="1"/>
          <p:nvPr/>
        </p:nvSpPr>
        <p:spPr>
          <a:xfrm>
            <a:off x="3429000" y="623735"/>
            <a:ext cx="7592648" cy="397510"/>
          </a:xfrm>
          <a:prstGeom prst="rect">
            <a:avLst/>
          </a:prstGeom>
        </p:spPr>
        <p:txBody>
          <a:bodyPr lIns="0" tIns="0" rIns="0" bIns="0" rtlCol="0" anchor="t">
            <a:spAutoFit/>
          </a:bodyPr>
          <a:lstStyle/>
          <a:p>
            <a:pPr>
              <a:lnSpc>
                <a:spcPts val="3079"/>
              </a:lnSpc>
            </a:pPr>
            <a:r>
              <a:rPr lang="en-US" sz="2799" b="1" dirty="0">
                <a:solidFill>
                  <a:srgbClr val="1C3F60"/>
                </a:solidFill>
                <a:latin typeface="Inter Bold"/>
                <a:ea typeface="Inter Bold"/>
                <a:cs typeface="Inter Bold"/>
                <a:sym typeface="Inter Bold"/>
              </a:rPr>
              <a:t>Vectorization and Clustering</a:t>
            </a:r>
          </a:p>
        </p:txBody>
      </p:sp>
      <p:sp>
        <p:nvSpPr>
          <p:cNvPr id="7" name="TextBox 10">
            <a:extLst>
              <a:ext uri="{FF2B5EF4-FFF2-40B4-BE49-F238E27FC236}">
                <a16:creationId xmlns:a16="http://schemas.microsoft.com/office/drawing/2014/main" id="{2E10D7CC-CF1F-2F25-E09B-CBC40C723457}"/>
              </a:ext>
            </a:extLst>
          </p:cNvPr>
          <p:cNvSpPr txBox="1"/>
          <p:nvPr/>
        </p:nvSpPr>
        <p:spPr>
          <a:xfrm>
            <a:off x="3463636" y="1329022"/>
            <a:ext cx="14367164" cy="7871129"/>
          </a:xfrm>
          <a:prstGeom prst="rect">
            <a:avLst/>
          </a:prstGeom>
        </p:spPr>
        <p:txBody>
          <a:bodyPr wrap="square" lIns="0" tIns="0" rIns="0" bIns="0" rtlCol="0" anchor="t">
            <a:spAutoFit/>
          </a:bodyPr>
          <a:lstStyle/>
          <a:p>
            <a:pPr lvl="0">
              <a:lnSpc>
                <a:spcPts val="2799"/>
              </a:lnSpc>
              <a:spcBef>
                <a:spcPct val="0"/>
              </a:spcBef>
            </a:pPr>
            <a:r>
              <a:rPr lang="en-US" sz="1999" u="none" strike="noStrike" spc="-39" dirty="0">
                <a:solidFill>
                  <a:srgbClr val="1C191A"/>
                </a:solidFill>
                <a:latin typeface="Inter"/>
                <a:ea typeface="Inter"/>
                <a:cs typeface="Inter"/>
                <a:sym typeface="Inter"/>
              </a:rPr>
              <a:t>All the words are vectorized using </a:t>
            </a:r>
            <a:r>
              <a:rPr lang="en-US" sz="1999" b="1" u="none" strike="noStrike" spc="-39" dirty="0">
                <a:solidFill>
                  <a:srgbClr val="1C191A"/>
                </a:solidFill>
                <a:latin typeface="Inter"/>
                <a:ea typeface="Inter"/>
                <a:cs typeface="Inter"/>
                <a:sym typeface="Inter"/>
              </a:rPr>
              <a:t>Word2Vec</a:t>
            </a:r>
            <a:r>
              <a:rPr lang="en-US" sz="1999" u="none" strike="noStrike" spc="-39" dirty="0">
                <a:solidFill>
                  <a:srgbClr val="1C191A"/>
                </a:solidFill>
                <a:latin typeface="Inter"/>
                <a:ea typeface="Inter"/>
                <a:cs typeface="Inter"/>
                <a:sym typeface="Inter"/>
              </a:rPr>
              <a:t>, not just top 200 words. The vector size is 100. Word2vec is a popular Google-developed machine learning technique used in natural language processing (NLP) to map words into high-dimensional, numerical vector spaces. It learns semantic relationships by training a shallow, two-layer neural network to predict words based on their surrounding context, enabling applications like word analogies (e.g., "king - man + woman = queen").</a:t>
            </a:r>
          </a:p>
          <a:p>
            <a:pPr lvl="0">
              <a:lnSpc>
                <a:spcPts val="2799"/>
              </a:lnSpc>
              <a:spcBef>
                <a:spcPct val="0"/>
              </a:spcBef>
            </a:pPr>
            <a:endParaRPr lang="en-US" sz="1999" spc="-39" dirty="0">
              <a:solidFill>
                <a:srgbClr val="1C191A"/>
              </a:solidFill>
              <a:latin typeface="Inter"/>
              <a:ea typeface="Inter"/>
              <a:cs typeface="Inter"/>
              <a:sym typeface="Inter"/>
            </a:endParaRPr>
          </a:p>
          <a:p>
            <a:pPr lvl="0">
              <a:lnSpc>
                <a:spcPts val="2799"/>
              </a:lnSpc>
              <a:spcBef>
                <a:spcPct val="0"/>
              </a:spcBef>
            </a:pPr>
            <a:r>
              <a:rPr lang="en-US" sz="1999" u="none" strike="noStrike" spc="-39" dirty="0">
                <a:solidFill>
                  <a:srgbClr val="1C191A"/>
                </a:solidFill>
                <a:latin typeface="Inter"/>
                <a:ea typeface="Inter"/>
                <a:cs typeface="Inter"/>
                <a:sym typeface="Inter"/>
              </a:rPr>
              <a:t>After the vectorization is done, to reduce the dimensionality of the embedding space, I applied </a:t>
            </a:r>
            <a:r>
              <a:rPr lang="en-US" sz="1999" b="1" u="none" strike="noStrike" spc="-39" dirty="0">
                <a:solidFill>
                  <a:srgbClr val="1C191A"/>
                </a:solidFill>
                <a:latin typeface="Inter"/>
                <a:ea typeface="Inter"/>
                <a:cs typeface="Inter"/>
                <a:sym typeface="Inter"/>
              </a:rPr>
              <a:t>Principal Component Analysis </a:t>
            </a:r>
            <a:r>
              <a:rPr lang="en-US" sz="1999" u="none" strike="noStrike" spc="-39" dirty="0">
                <a:solidFill>
                  <a:srgbClr val="1C191A"/>
                </a:solidFill>
                <a:latin typeface="Inter"/>
                <a:ea typeface="Inter"/>
                <a:cs typeface="Inter"/>
                <a:sym typeface="Inter"/>
              </a:rPr>
              <a:t>Principal Component Analysis (PCA) is an unsupervised machine learning technique that reduces the dimensionality of large datasets while preserving as much variance as possible. It reduced the dimension of the embedding space to 2.</a:t>
            </a:r>
          </a:p>
          <a:p>
            <a:pPr lvl="0">
              <a:lnSpc>
                <a:spcPts val="2799"/>
              </a:lnSpc>
              <a:spcBef>
                <a:spcPct val="0"/>
              </a:spcBef>
            </a:pPr>
            <a:endParaRPr lang="en-US" sz="1999" spc="-39" dirty="0">
              <a:solidFill>
                <a:srgbClr val="1C191A"/>
              </a:solidFill>
              <a:latin typeface="Inter"/>
              <a:ea typeface="Inter"/>
              <a:cs typeface="Inter"/>
              <a:sym typeface="Inter"/>
            </a:endParaRPr>
          </a:p>
          <a:p>
            <a:pPr lvl="0">
              <a:lnSpc>
                <a:spcPts val="2799"/>
              </a:lnSpc>
              <a:spcBef>
                <a:spcPct val="0"/>
              </a:spcBef>
            </a:pPr>
            <a:r>
              <a:rPr lang="en-US" sz="1999" u="none" strike="noStrike" spc="-39" dirty="0">
                <a:solidFill>
                  <a:srgbClr val="1C191A"/>
                </a:solidFill>
                <a:latin typeface="Inter"/>
                <a:ea typeface="Inter"/>
                <a:cs typeface="Inter"/>
                <a:sym typeface="Inter"/>
              </a:rPr>
              <a:t>After vectorization I intended to form a clustering out of them. I applied </a:t>
            </a:r>
            <a:r>
              <a:rPr lang="en-US" sz="1999" b="1" u="none" strike="noStrike" spc="-39" dirty="0">
                <a:solidFill>
                  <a:srgbClr val="1C191A"/>
                </a:solidFill>
                <a:latin typeface="Inter"/>
                <a:ea typeface="Inter"/>
                <a:cs typeface="Inter"/>
                <a:sym typeface="Inter"/>
              </a:rPr>
              <a:t>K-Means clustering</a:t>
            </a:r>
            <a:r>
              <a:rPr lang="en-US" sz="1999" u="none" strike="noStrike" spc="-39" dirty="0">
                <a:solidFill>
                  <a:srgbClr val="1C191A"/>
                </a:solidFill>
                <a:latin typeface="Inter"/>
                <a:ea typeface="Inter"/>
                <a:cs typeface="Inter"/>
                <a:sym typeface="Inter"/>
              </a:rPr>
              <a:t>. It is an unsupervised machine learning algorithm that partitions unlabeled data into K distinct, non-overlapping clusters based on feature similarity. It iteratively assigns data points to the nearest centroid and updates centroids until convergence, minimizing within-cluster variance. </a:t>
            </a:r>
          </a:p>
          <a:p>
            <a:pPr lvl="0">
              <a:lnSpc>
                <a:spcPts val="2799"/>
              </a:lnSpc>
              <a:spcBef>
                <a:spcPct val="0"/>
              </a:spcBef>
            </a:pPr>
            <a:r>
              <a:rPr lang="en-US" sz="1999" u="none" strike="noStrike" spc="-39" dirty="0">
                <a:solidFill>
                  <a:srgbClr val="1C191A"/>
                </a:solidFill>
                <a:latin typeface="Inter"/>
                <a:ea typeface="Inter"/>
                <a:cs typeface="Inter"/>
                <a:sym typeface="Inter"/>
              </a:rPr>
              <a:t>To determine the number of clusters I calculated 2 metrices, </a:t>
            </a:r>
            <a:r>
              <a:rPr lang="en-US" sz="1999" i="1" u="none" strike="noStrike" spc="-39" dirty="0">
                <a:solidFill>
                  <a:srgbClr val="1C191A"/>
                </a:solidFill>
                <a:latin typeface="Inter"/>
                <a:ea typeface="Inter"/>
                <a:cs typeface="Inter"/>
                <a:sym typeface="Inter"/>
              </a:rPr>
              <a:t>Silhouette Score </a:t>
            </a:r>
            <a:r>
              <a:rPr lang="en-US" sz="1999" u="none" strike="noStrike" spc="-39" dirty="0">
                <a:solidFill>
                  <a:srgbClr val="1C191A"/>
                </a:solidFill>
                <a:latin typeface="Inter"/>
                <a:ea typeface="Inter"/>
                <a:cs typeface="Inter"/>
                <a:sym typeface="Inter"/>
              </a:rPr>
              <a:t>and </a:t>
            </a:r>
            <a:r>
              <a:rPr lang="en-US" sz="1999" i="1" u="none" strike="noStrike" spc="-39" dirty="0">
                <a:solidFill>
                  <a:srgbClr val="1C191A"/>
                </a:solidFill>
                <a:latin typeface="Inter"/>
                <a:ea typeface="Inter"/>
                <a:cs typeface="Inter"/>
                <a:sym typeface="Inter"/>
              </a:rPr>
              <a:t>Davies-Bouldin Index </a:t>
            </a:r>
            <a:r>
              <a:rPr lang="en-US" sz="1999" u="none" strike="noStrike" spc="-39" dirty="0">
                <a:solidFill>
                  <a:srgbClr val="1C191A"/>
                </a:solidFill>
                <a:latin typeface="Inter"/>
                <a:ea typeface="Inter"/>
                <a:cs typeface="Inter"/>
                <a:sym typeface="Inter"/>
              </a:rPr>
              <a:t>that gave me the right number of clusters for this task by evaluating the cluster structures. The silhouette score is a metric used to calculate the goodness of a clustering technique, ranging from -1 to +1, where a higher value indicates well-defined, dense clusters that are properly separated. It measures how similar a data point is to its own cluster (cohesion) compared to other clusters (separation). The Davies-Bouldin Index (DBI) is an internal evaluation metric used to validate clustering algorithms, with lower values indicating better performance. It measures the average "similarity" between each cluster and its most similar one, where a lower score signifies that clusters are well-separated and internally compact.</a:t>
            </a:r>
          </a:p>
          <a:p>
            <a:pPr lvl="0">
              <a:lnSpc>
                <a:spcPts val="2799"/>
              </a:lnSpc>
              <a:spcBef>
                <a:spcPct val="0"/>
              </a:spcBef>
            </a:pPr>
            <a:endParaRPr lang="en-US" sz="1999" spc="-39" dirty="0">
              <a:solidFill>
                <a:srgbClr val="1C191A"/>
              </a:solidFill>
              <a:latin typeface="Inter"/>
              <a:ea typeface="Inter"/>
              <a:cs typeface="Inter"/>
              <a:sym typeface="Inter"/>
            </a:endParaRPr>
          </a:p>
          <a:p>
            <a:pPr lvl="0">
              <a:lnSpc>
                <a:spcPts val="2799"/>
              </a:lnSpc>
              <a:spcBef>
                <a:spcPct val="0"/>
              </a:spcBef>
            </a:pPr>
            <a:endParaRPr lang="en-US" sz="1999" u="none" strike="noStrike" spc="-39" dirty="0">
              <a:solidFill>
                <a:srgbClr val="1C191A"/>
              </a:solidFill>
              <a:latin typeface="Inter"/>
              <a:ea typeface="Inter"/>
              <a:cs typeface="Inter"/>
              <a:sym typeface="Inter"/>
            </a:endParaRPr>
          </a:p>
        </p:txBody>
      </p:sp>
    </p:spTree>
    <p:extLst>
      <p:ext uri="{BB962C8B-B14F-4D97-AF65-F5344CB8AC3E}">
        <p14:creationId xmlns:p14="http://schemas.microsoft.com/office/powerpoint/2010/main" val="1514757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42139" y="1655127"/>
            <a:ext cx="14203723" cy="1060451"/>
          </a:xfrm>
          <a:prstGeom prst="rect">
            <a:avLst/>
          </a:prstGeom>
        </p:spPr>
        <p:txBody>
          <a:bodyPr lIns="0" tIns="0" rIns="0" bIns="0" rtlCol="0" anchor="t">
            <a:spAutoFit/>
          </a:bodyPr>
          <a:lstStyle/>
          <a:p>
            <a:pPr marL="0" lvl="0" indent="0" algn="ctr">
              <a:lnSpc>
                <a:spcPts val="8000"/>
              </a:lnSpc>
              <a:spcBef>
                <a:spcPct val="0"/>
              </a:spcBef>
            </a:pPr>
            <a:r>
              <a:rPr lang="en-US" sz="8000" u="none" strike="noStrike" dirty="0">
                <a:solidFill>
                  <a:srgbClr val="1C3F60"/>
                </a:solidFill>
                <a:latin typeface="Inter"/>
                <a:ea typeface="Inter"/>
                <a:cs typeface="Inter"/>
                <a:sym typeface="Inter"/>
              </a:rPr>
              <a:t>Block-diagram</a:t>
            </a:r>
          </a:p>
        </p:txBody>
      </p:sp>
      <p:grpSp>
        <p:nvGrpSpPr>
          <p:cNvPr id="3" name="Group 3"/>
          <p:cNvGrpSpPr/>
          <p:nvPr/>
        </p:nvGrpSpPr>
        <p:grpSpPr>
          <a:xfrm>
            <a:off x="1458565" y="5711632"/>
            <a:ext cx="3526424" cy="1281257"/>
            <a:chOff x="0" y="0"/>
            <a:chExt cx="928770" cy="337450"/>
          </a:xfrm>
        </p:grpSpPr>
        <p:sp>
          <p:nvSpPr>
            <p:cNvPr id="4" name="Freeform 4"/>
            <p:cNvSpPr/>
            <p:nvPr/>
          </p:nvSpPr>
          <p:spPr>
            <a:xfrm>
              <a:off x="0" y="0"/>
              <a:ext cx="928770" cy="337450"/>
            </a:xfrm>
            <a:custGeom>
              <a:avLst/>
              <a:gdLst/>
              <a:ahLst/>
              <a:cxnLst/>
              <a:rect l="l" t="t" r="r" b="b"/>
              <a:pathLst>
                <a:path w="928770" h="337450">
                  <a:moveTo>
                    <a:pt x="0" y="0"/>
                  </a:moveTo>
                  <a:lnTo>
                    <a:pt x="928770" y="0"/>
                  </a:lnTo>
                  <a:lnTo>
                    <a:pt x="928770" y="337450"/>
                  </a:lnTo>
                  <a:lnTo>
                    <a:pt x="0" y="337450"/>
                  </a:lnTo>
                  <a:close/>
                </a:path>
              </a:pathLst>
            </a:custGeom>
            <a:solidFill>
              <a:srgbClr val="F6F4F1"/>
            </a:solidFill>
            <a:ln w="57150" cap="sq">
              <a:solidFill>
                <a:srgbClr val="CDDADE"/>
              </a:solidFill>
              <a:prstDash val="solid"/>
              <a:miter/>
            </a:ln>
          </p:spPr>
        </p:sp>
        <p:sp>
          <p:nvSpPr>
            <p:cNvPr id="5" name="TextBox 5"/>
            <p:cNvSpPr txBox="1"/>
            <p:nvPr/>
          </p:nvSpPr>
          <p:spPr>
            <a:xfrm>
              <a:off x="0" y="-38100"/>
              <a:ext cx="928770" cy="375550"/>
            </a:xfrm>
            <a:prstGeom prst="rect">
              <a:avLst/>
            </a:prstGeom>
          </p:spPr>
          <p:txBody>
            <a:bodyPr lIns="50800" tIns="50800" rIns="50800" bIns="50800" rtlCol="0" anchor="ctr"/>
            <a:lstStyle/>
            <a:p>
              <a:pPr marL="0" lvl="0" indent="0" algn="ctr">
                <a:lnSpc>
                  <a:spcPts val="2799"/>
                </a:lnSpc>
                <a:spcBef>
                  <a:spcPct val="0"/>
                </a:spcBef>
              </a:pPr>
              <a:r>
                <a:rPr lang="en-US" sz="1999" u="none" strike="noStrike" spc="-39" dirty="0">
                  <a:solidFill>
                    <a:srgbClr val="1C3F60"/>
                  </a:solidFill>
                  <a:latin typeface="Inter"/>
                  <a:ea typeface="Inter"/>
                  <a:cs typeface="Inter"/>
                  <a:sym typeface="Inter"/>
                </a:rPr>
                <a:t>Twitter Data</a:t>
              </a:r>
            </a:p>
          </p:txBody>
        </p:sp>
      </p:grpSp>
      <p:grpSp>
        <p:nvGrpSpPr>
          <p:cNvPr id="6" name="Group 6"/>
          <p:cNvGrpSpPr/>
          <p:nvPr/>
        </p:nvGrpSpPr>
        <p:grpSpPr>
          <a:xfrm>
            <a:off x="5872529" y="3726535"/>
            <a:ext cx="4745840" cy="5251451"/>
            <a:chOff x="0" y="0"/>
            <a:chExt cx="1249933" cy="1383098"/>
          </a:xfrm>
        </p:grpSpPr>
        <p:sp>
          <p:nvSpPr>
            <p:cNvPr id="7" name="Freeform 7"/>
            <p:cNvSpPr/>
            <p:nvPr/>
          </p:nvSpPr>
          <p:spPr>
            <a:xfrm>
              <a:off x="0" y="0"/>
              <a:ext cx="1249933" cy="1383098"/>
            </a:xfrm>
            <a:custGeom>
              <a:avLst/>
              <a:gdLst/>
              <a:ahLst/>
              <a:cxnLst/>
              <a:rect l="l" t="t" r="r" b="b"/>
              <a:pathLst>
                <a:path w="1249933" h="1383098">
                  <a:moveTo>
                    <a:pt x="0" y="0"/>
                  </a:moveTo>
                  <a:lnTo>
                    <a:pt x="1249933" y="0"/>
                  </a:lnTo>
                  <a:lnTo>
                    <a:pt x="1249933" y="1383098"/>
                  </a:lnTo>
                  <a:lnTo>
                    <a:pt x="0" y="1383098"/>
                  </a:lnTo>
                  <a:close/>
                </a:path>
              </a:pathLst>
            </a:custGeom>
            <a:solidFill>
              <a:srgbClr val="CDDADE"/>
            </a:solidFill>
            <a:ln cap="sq">
              <a:noFill/>
              <a:prstDash val="solid"/>
              <a:miter/>
            </a:ln>
          </p:spPr>
        </p:sp>
        <p:sp>
          <p:nvSpPr>
            <p:cNvPr id="8" name="TextBox 8"/>
            <p:cNvSpPr txBox="1"/>
            <p:nvPr/>
          </p:nvSpPr>
          <p:spPr>
            <a:xfrm>
              <a:off x="0" y="-38100"/>
              <a:ext cx="1249933" cy="1421198"/>
            </a:xfrm>
            <a:prstGeom prst="rect">
              <a:avLst/>
            </a:prstGeom>
          </p:spPr>
          <p:txBody>
            <a:bodyPr lIns="50800" tIns="50800" rIns="50800" bIns="50800" rtlCol="0" anchor="ctr"/>
            <a:lstStyle/>
            <a:p>
              <a:pPr marL="0" lvl="0" indent="0" algn="ctr">
                <a:lnSpc>
                  <a:spcPts val="2799"/>
                </a:lnSpc>
                <a:spcBef>
                  <a:spcPct val="0"/>
                </a:spcBef>
              </a:pPr>
              <a:endParaRPr/>
            </a:p>
          </p:txBody>
        </p:sp>
      </p:grpSp>
      <p:grpSp>
        <p:nvGrpSpPr>
          <p:cNvPr id="9" name="Group 9"/>
          <p:cNvGrpSpPr/>
          <p:nvPr/>
        </p:nvGrpSpPr>
        <p:grpSpPr>
          <a:xfrm>
            <a:off x="6511141" y="4227376"/>
            <a:ext cx="3526424" cy="1281257"/>
            <a:chOff x="0" y="0"/>
            <a:chExt cx="928770" cy="337450"/>
          </a:xfrm>
        </p:grpSpPr>
        <p:sp>
          <p:nvSpPr>
            <p:cNvPr id="10" name="Freeform 10"/>
            <p:cNvSpPr/>
            <p:nvPr/>
          </p:nvSpPr>
          <p:spPr>
            <a:xfrm>
              <a:off x="0" y="0"/>
              <a:ext cx="928770" cy="337450"/>
            </a:xfrm>
            <a:custGeom>
              <a:avLst/>
              <a:gdLst/>
              <a:ahLst/>
              <a:cxnLst/>
              <a:rect l="l" t="t" r="r" b="b"/>
              <a:pathLst>
                <a:path w="928770" h="337450">
                  <a:moveTo>
                    <a:pt x="0" y="0"/>
                  </a:moveTo>
                  <a:lnTo>
                    <a:pt x="928770" y="0"/>
                  </a:lnTo>
                  <a:lnTo>
                    <a:pt x="928770" y="337450"/>
                  </a:lnTo>
                  <a:lnTo>
                    <a:pt x="0" y="337450"/>
                  </a:lnTo>
                  <a:close/>
                </a:path>
              </a:pathLst>
            </a:custGeom>
            <a:solidFill>
              <a:srgbClr val="F6F4F1"/>
            </a:solidFill>
            <a:ln w="57150" cap="sq">
              <a:solidFill>
                <a:srgbClr val="FFFFFF"/>
              </a:solidFill>
              <a:prstDash val="solid"/>
              <a:miter/>
            </a:ln>
          </p:spPr>
        </p:sp>
        <p:sp>
          <p:nvSpPr>
            <p:cNvPr id="11" name="TextBox 11"/>
            <p:cNvSpPr txBox="1"/>
            <p:nvPr/>
          </p:nvSpPr>
          <p:spPr>
            <a:xfrm>
              <a:off x="0" y="-38100"/>
              <a:ext cx="928770" cy="375550"/>
            </a:xfrm>
            <a:prstGeom prst="rect">
              <a:avLst/>
            </a:prstGeom>
          </p:spPr>
          <p:txBody>
            <a:bodyPr lIns="50800" tIns="50800" rIns="50800" bIns="50800" rtlCol="0" anchor="ctr"/>
            <a:lstStyle/>
            <a:p>
              <a:pPr marL="0" lvl="0" indent="0" algn="ctr">
                <a:lnSpc>
                  <a:spcPts val="2799"/>
                </a:lnSpc>
                <a:spcBef>
                  <a:spcPct val="0"/>
                </a:spcBef>
              </a:pPr>
              <a:r>
                <a:rPr lang="en-US" sz="1999" u="none" strike="noStrike" spc="-39" dirty="0">
                  <a:solidFill>
                    <a:srgbClr val="1C3F60"/>
                  </a:solidFill>
                  <a:latin typeface="Inter"/>
                  <a:ea typeface="Inter"/>
                  <a:cs typeface="Inter"/>
                  <a:sym typeface="Inter"/>
                </a:rPr>
                <a:t>TF-IDF</a:t>
              </a:r>
            </a:p>
          </p:txBody>
        </p:sp>
      </p:grpSp>
      <p:grpSp>
        <p:nvGrpSpPr>
          <p:cNvPr id="12" name="Group 12"/>
          <p:cNvGrpSpPr/>
          <p:nvPr/>
        </p:nvGrpSpPr>
        <p:grpSpPr>
          <a:xfrm>
            <a:off x="6482235" y="7096656"/>
            <a:ext cx="3555330" cy="1425918"/>
            <a:chOff x="-7613" y="-29890"/>
            <a:chExt cx="936383" cy="375550"/>
          </a:xfrm>
        </p:grpSpPr>
        <p:sp>
          <p:nvSpPr>
            <p:cNvPr id="13" name="Freeform 13"/>
            <p:cNvSpPr/>
            <p:nvPr/>
          </p:nvSpPr>
          <p:spPr>
            <a:xfrm>
              <a:off x="0" y="0"/>
              <a:ext cx="928770" cy="337450"/>
            </a:xfrm>
            <a:custGeom>
              <a:avLst/>
              <a:gdLst/>
              <a:ahLst/>
              <a:cxnLst/>
              <a:rect l="l" t="t" r="r" b="b"/>
              <a:pathLst>
                <a:path w="928770" h="337450">
                  <a:moveTo>
                    <a:pt x="0" y="0"/>
                  </a:moveTo>
                  <a:lnTo>
                    <a:pt x="928770" y="0"/>
                  </a:lnTo>
                  <a:lnTo>
                    <a:pt x="928770" y="337450"/>
                  </a:lnTo>
                  <a:lnTo>
                    <a:pt x="0" y="337450"/>
                  </a:lnTo>
                  <a:close/>
                </a:path>
              </a:pathLst>
            </a:custGeom>
            <a:solidFill>
              <a:srgbClr val="F6F4F1"/>
            </a:solidFill>
            <a:ln w="57150" cap="sq">
              <a:solidFill>
                <a:srgbClr val="FFFFFF"/>
              </a:solidFill>
              <a:prstDash val="solid"/>
              <a:miter/>
            </a:ln>
          </p:spPr>
        </p:sp>
        <p:sp>
          <p:nvSpPr>
            <p:cNvPr id="14" name="TextBox 14"/>
            <p:cNvSpPr txBox="1"/>
            <p:nvPr/>
          </p:nvSpPr>
          <p:spPr>
            <a:xfrm>
              <a:off x="-7613" y="-29890"/>
              <a:ext cx="928770" cy="375550"/>
            </a:xfrm>
            <a:prstGeom prst="rect">
              <a:avLst/>
            </a:prstGeom>
          </p:spPr>
          <p:txBody>
            <a:bodyPr lIns="50800" tIns="50800" rIns="50800" bIns="50800" rtlCol="0" anchor="ctr"/>
            <a:lstStyle/>
            <a:p>
              <a:pPr marL="0" lvl="0" indent="0" algn="ctr">
                <a:lnSpc>
                  <a:spcPts val="2799"/>
                </a:lnSpc>
                <a:spcBef>
                  <a:spcPct val="0"/>
                </a:spcBef>
              </a:pPr>
              <a:r>
                <a:rPr lang="en-US" sz="1999" u="none" strike="noStrike" spc="-39" dirty="0">
                  <a:solidFill>
                    <a:srgbClr val="1C3F60"/>
                  </a:solidFill>
                  <a:latin typeface="Inter"/>
                  <a:ea typeface="Inter"/>
                  <a:cs typeface="Inter"/>
                  <a:sym typeface="Inter"/>
                </a:rPr>
                <a:t>Word2Vec</a:t>
              </a:r>
            </a:p>
          </p:txBody>
        </p:sp>
      </p:grpSp>
      <p:grpSp>
        <p:nvGrpSpPr>
          <p:cNvPr id="15" name="Group 15"/>
          <p:cNvGrpSpPr/>
          <p:nvPr/>
        </p:nvGrpSpPr>
        <p:grpSpPr>
          <a:xfrm>
            <a:off x="11482813" y="7312516"/>
            <a:ext cx="2221932" cy="1281257"/>
            <a:chOff x="0" y="0"/>
            <a:chExt cx="585200" cy="337450"/>
          </a:xfrm>
        </p:grpSpPr>
        <p:sp>
          <p:nvSpPr>
            <p:cNvPr id="16" name="Freeform 16"/>
            <p:cNvSpPr/>
            <p:nvPr/>
          </p:nvSpPr>
          <p:spPr>
            <a:xfrm>
              <a:off x="0" y="0"/>
              <a:ext cx="585200" cy="337450"/>
            </a:xfrm>
            <a:custGeom>
              <a:avLst/>
              <a:gdLst/>
              <a:ahLst/>
              <a:cxnLst/>
              <a:rect l="l" t="t" r="r" b="b"/>
              <a:pathLst>
                <a:path w="585200" h="337450">
                  <a:moveTo>
                    <a:pt x="0" y="0"/>
                  </a:moveTo>
                  <a:lnTo>
                    <a:pt x="585200" y="0"/>
                  </a:lnTo>
                  <a:lnTo>
                    <a:pt x="585200" y="337450"/>
                  </a:lnTo>
                  <a:lnTo>
                    <a:pt x="0" y="337450"/>
                  </a:lnTo>
                  <a:close/>
                </a:path>
              </a:pathLst>
            </a:custGeom>
            <a:solidFill>
              <a:srgbClr val="F6F4F1"/>
            </a:solidFill>
            <a:ln w="57150" cap="sq">
              <a:solidFill>
                <a:srgbClr val="CDDADE"/>
              </a:solidFill>
              <a:prstDash val="solid"/>
              <a:miter/>
            </a:ln>
          </p:spPr>
        </p:sp>
        <p:sp>
          <p:nvSpPr>
            <p:cNvPr id="17" name="TextBox 17"/>
            <p:cNvSpPr txBox="1"/>
            <p:nvPr/>
          </p:nvSpPr>
          <p:spPr>
            <a:xfrm>
              <a:off x="0" y="-38100"/>
              <a:ext cx="585200" cy="375550"/>
            </a:xfrm>
            <a:prstGeom prst="rect">
              <a:avLst/>
            </a:prstGeom>
          </p:spPr>
          <p:txBody>
            <a:bodyPr lIns="50800" tIns="50800" rIns="50800" bIns="50800" rtlCol="0" anchor="ctr"/>
            <a:lstStyle/>
            <a:p>
              <a:pPr marL="0" lvl="0" indent="0" algn="ctr">
                <a:lnSpc>
                  <a:spcPts val="2799"/>
                </a:lnSpc>
                <a:spcBef>
                  <a:spcPct val="0"/>
                </a:spcBef>
              </a:pPr>
              <a:r>
                <a:rPr lang="en-US" sz="1999" u="none" strike="noStrike" spc="-39" dirty="0">
                  <a:solidFill>
                    <a:srgbClr val="1C3F60"/>
                  </a:solidFill>
                  <a:latin typeface="Inter"/>
                  <a:ea typeface="Inter"/>
                  <a:cs typeface="Inter"/>
                  <a:sym typeface="Inter"/>
                </a:rPr>
                <a:t>PCA</a:t>
              </a:r>
            </a:p>
          </p:txBody>
        </p:sp>
      </p:grpSp>
      <p:grpSp>
        <p:nvGrpSpPr>
          <p:cNvPr id="18" name="Group 18"/>
          <p:cNvGrpSpPr/>
          <p:nvPr/>
        </p:nvGrpSpPr>
        <p:grpSpPr>
          <a:xfrm>
            <a:off x="14586122" y="7312516"/>
            <a:ext cx="2221932" cy="1281257"/>
            <a:chOff x="0" y="0"/>
            <a:chExt cx="585200" cy="337450"/>
          </a:xfrm>
        </p:grpSpPr>
        <p:sp>
          <p:nvSpPr>
            <p:cNvPr id="19" name="Freeform 19"/>
            <p:cNvSpPr/>
            <p:nvPr/>
          </p:nvSpPr>
          <p:spPr>
            <a:xfrm>
              <a:off x="0" y="0"/>
              <a:ext cx="585200" cy="337450"/>
            </a:xfrm>
            <a:custGeom>
              <a:avLst/>
              <a:gdLst/>
              <a:ahLst/>
              <a:cxnLst/>
              <a:rect l="l" t="t" r="r" b="b"/>
              <a:pathLst>
                <a:path w="585200" h="337450">
                  <a:moveTo>
                    <a:pt x="0" y="0"/>
                  </a:moveTo>
                  <a:lnTo>
                    <a:pt x="585200" y="0"/>
                  </a:lnTo>
                  <a:lnTo>
                    <a:pt x="585200" y="337450"/>
                  </a:lnTo>
                  <a:lnTo>
                    <a:pt x="0" y="337450"/>
                  </a:lnTo>
                  <a:close/>
                </a:path>
              </a:pathLst>
            </a:custGeom>
            <a:solidFill>
              <a:srgbClr val="F6F4F1"/>
            </a:solidFill>
            <a:ln w="57150" cap="sq">
              <a:solidFill>
                <a:srgbClr val="CDDADE"/>
              </a:solidFill>
              <a:prstDash val="solid"/>
              <a:miter/>
            </a:ln>
          </p:spPr>
        </p:sp>
        <p:sp>
          <p:nvSpPr>
            <p:cNvPr id="20" name="TextBox 20"/>
            <p:cNvSpPr txBox="1"/>
            <p:nvPr/>
          </p:nvSpPr>
          <p:spPr>
            <a:xfrm>
              <a:off x="0" y="-38100"/>
              <a:ext cx="585200" cy="375550"/>
            </a:xfrm>
            <a:prstGeom prst="rect">
              <a:avLst/>
            </a:prstGeom>
          </p:spPr>
          <p:txBody>
            <a:bodyPr lIns="50800" tIns="50800" rIns="50800" bIns="50800" rtlCol="0" anchor="ctr"/>
            <a:lstStyle/>
            <a:p>
              <a:pPr marL="0" lvl="0" indent="0" algn="ctr">
                <a:lnSpc>
                  <a:spcPts val="2799"/>
                </a:lnSpc>
                <a:spcBef>
                  <a:spcPct val="0"/>
                </a:spcBef>
              </a:pPr>
              <a:r>
                <a:rPr lang="en-US" sz="1999" u="none" strike="noStrike" spc="-39" dirty="0">
                  <a:solidFill>
                    <a:srgbClr val="1C3F60"/>
                  </a:solidFill>
                  <a:latin typeface="Inter"/>
                  <a:ea typeface="Inter"/>
                  <a:cs typeface="Inter"/>
                  <a:sym typeface="Inter"/>
                </a:rPr>
                <a:t>K-Means</a:t>
              </a:r>
            </a:p>
          </p:txBody>
        </p:sp>
      </p:grpSp>
      <p:sp>
        <p:nvSpPr>
          <p:cNvPr id="21" name="AutoShape 21"/>
          <p:cNvSpPr/>
          <p:nvPr/>
        </p:nvSpPr>
        <p:spPr>
          <a:xfrm>
            <a:off x="4984989" y="6352261"/>
            <a:ext cx="887540" cy="0"/>
          </a:xfrm>
          <a:prstGeom prst="line">
            <a:avLst/>
          </a:prstGeom>
          <a:ln w="57150" cap="flat">
            <a:solidFill>
              <a:srgbClr val="CDDADE"/>
            </a:solidFill>
            <a:prstDash val="solid"/>
            <a:headEnd type="none" w="sm" len="sm"/>
            <a:tailEnd type="none" w="sm" len="sm"/>
          </a:ln>
        </p:spPr>
      </p:sp>
      <p:sp>
        <p:nvSpPr>
          <p:cNvPr id="22" name="AutoShape 22"/>
          <p:cNvSpPr/>
          <p:nvPr/>
        </p:nvSpPr>
        <p:spPr>
          <a:xfrm>
            <a:off x="10595273" y="7953145"/>
            <a:ext cx="887540" cy="0"/>
          </a:xfrm>
          <a:prstGeom prst="line">
            <a:avLst/>
          </a:prstGeom>
          <a:ln w="57150" cap="flat">
            <a:solidFill>
              <a:srgbClr val="CDDADE"/>
            </a:solidFill>
            <a:prstDash val="solid"/>
            <a:headEnd type="none" w="sm" len="sm"/>
            <a:tailEnd type="none" w="sm" len="sm"/>
          </a:ln>
        </p:spPr>
      </p:sp>
      <p:sp>
        <p:nvSpPr>
          <p:cNvPr id="23" name="AutoShape 23"/>
          <p:cNvSpPr/>
          <p:nvPr/>
        </p:nvSpPr>
        <p:spPr>
          <a:xfrm>
            <a:off x="13704744" y="7953145"/>
            <a:ext cx="887540" cy="0"/>
          </a:xfrm>
          <a:prstGeom prst="line">
            <a:avLst/>
          </a:prstGeom>
          <a:ln w="57150" cap="flat">
            <a:solidFill>
              <a:srgbClr val="CDDADE"/>
            </a:solidFill>
            <a:prstDash val="solid"/>
            <a:headEnd type="none" w="sm" len="sm"/>
            <a:tailEnd type="none" w="sm" len="sm"/>
          </a:ln>
        </p:spPr>
      </p:sp>
      <p:grpSp>
        <p:nvGrpSpPr>
          <p:cNvPr id="24" name="Group 15">
            <a:extLst>
              <a:ext uri="{FF2B5EF4-FFF2-40B4-BE49-F238E27FC236}">
                <a16:creationId xmlns:a16="http://schemas.microsoft.com/office/drawing/2014/main" id="{249D3573-9D39-FFB1-8E8F-0309BA62CA0D}"/>
              </a:ext>
            </a:extLst>
          </p:cNvPr>
          <p:cNvGrpSpPr/>
          <p:nvPr/>
        </p:nvGrpSpPr>
        <p:grpSpPr>
          <a:xfrm>
            <a:off x="11499746" y="4285714"/>
            <a:ext cx="2221932" cy="1281257"/>
            <a:chOff x="0" y="0"/>
            <a:chExt cx="585200" cy="337450"/>
          </a:xfrm>
        </p:grpSpPr>
        <p:sp>
          <p:nvSpPr>
            <p:cNvPr id="25" name="Freeform 16">
              <a:extLst>
                <a:ext uri="{FF2B5EF4-FFF2-40B4-BE49-F238E27FC236}">
                  <a16:creationId xmlns:a16="http://schemas.microsoft.com/office/drawing/2014/main" id="{127B370E-0168-B411-251B-329AC249EEDF}"/>
                </a:ext>
              </a:extLst>
            </p:cNvPr>
            <p:cNvSpPr/>
            <p:nvPr/>
          </p:nvSpPr>
          <p:spPr>
            <a:xfrm>
              <a:off x="0" y="0"/>
              <a:ext cx="585200" cy="337450"/>
            </a:xfrm>
            <a:custGeom>
              <a:avLst/>
              <a:gdLst/>
              <a:ahLst/>
              <a:cxnLst/>
              <a:rect l="l" t="t" r="r" b="b"/>
              <a:pathLst>
                <a:path w="585200" h="337450">
                  <a:moveTo>
                    <a:pt x="0" y="0"/>
                  </a:moveTo>
                  <a:lnTo>
                    <a:pt x="585200" y="0"/>
                  </a:lnTo>
                  <a:lnTo>
                    <a:pt x="585200" y="337450"/>
                  </a:lnTo>
                  <a:lnTo>
                    <a:pt x="0" y="337450"/>
                  </a:lnTo>
                  <a:close/>
                </a:path>
              </a:pathLst>
            </a:custGeom>
            <a:solidFill>
              <a:srgbClr val="F6F4F1"/>
            </a:solidFill>
            <a:ln w="57150" cap="sq">
              <a:solidFill>
                <a:srgbClr val="CDDADE"/>
              </a:solidFill>
              <a:prstDash val="solid"/>
              <a:miter/>
            </a:ln>
          </p:spPr>
        </p:sp>
        <p:sp>
          <p:nvSpPr>
            <p:cNvPr id="26" name="TextBox 17">
              <a:extLst>
                <a:ext uri="{FF2B5EF4-FFF2-40B4-BE49-F238E27FC236}">
                  <a16:creationId xmlns:a16="http://schemas.microsoft.com/office/drawing/2014/main" id="{126AEC7E-AFF2-B0EE-B52C-605E99C238F4}"/>
                </a:ext>
              </a:extLst>
            </p:cNvPr>
            <p:cNvSpPr txBox="1"/>
            <p:nvPr/>
          </p:nvSpPr>
          <p:spPr>
            <a:xfrm>
              <a:off x="0" y="-38100"/>
              <a:ext cx="585200" cy="375550"/>
            </a:xfrm>
            <a:prstGeom prst="rect">
              <a:avLst/>
            </a:prstGeom>
          </p:spPr>
          <p:txBody>
            <a:bodyPr lIns="50800" tIns="50800" rIns="50800" bIns="50800" rtlCol="0" anchor="ctr"/>
            <a:lstStyle/>
            <a:p>
              <a:pPr marL="0" lvl="0" indent="0" algn="ctr">
                <a:lnSpc>
                  <a:spcPts val="2799"/>
                </a:lnSpc>
                <a:spcBef>
                  <a:spcPct val="0"/>
                </a:spcBef>
              </a:pPr>
              <a:r>
                <a:rPr lang="en-US" sz="1999" u="none" strike="noStrike" spc="-39" dirty="0">
                  <a:solidFill>
                    <a:srgbClr val="1C3F60"/>
                  </a:solidFill>
                  <a:latin typeface="Inter"/>
                  <a:ea typeface="Inter"/>
                  <a:cs typeface="Inter"/>
                  <a:sym typeface="Inter"/>
                </a:rPr>
                <a:t>Co-occurrence Network</a:t>
              </a:r>
            </a:p>
          </p:txBody>
        </p:sp>
      </p:grpSp>
      <p:grpSp>
        <p:nvGrpSpPr>
          <p:cNvPr id="27" name="Group 18">
            <a:extLst>
              <a:ext uri="{FF2B5EF4-FFF2-40B4-BE49-F238E27FC236}">
                <a16:creationId xmlns:a16="http://schemas.microsoft.com/office/drawing/2014/main" id="{E5D21220-585F-E947-5885-C51FF9AE3F4F}"/>
              </a:ext>
            </a:extLst>
          </p:cNvPr>
          <p:cNvGrpSpPr/>
          <p:nvPr/>
        </p:nvGrpSpPr>
        <p:grpSpPr>
          <a:xfrm>
            <a:off x="14603055" y="2859796"/>
            <a:ext cx="2221932" cy="1425918"/>
            <a:chOff x="0" y="-38100"/>
            <a:chExt cx="585200" cy="375550"/>
          </a:xfrm>
        </p:grpSpPr>
        <p:sp>
          <p:nvSpPr>
            <p:cNvPr id="28" name="Freeform 19">
              <a:extLst>
                <a:ext uri="{FF2B5EF4-FFF2-40B4-BE49-F238E27FC236}">
                  <a16:creationId xmlns:a16="http://schemas.microsoft.com/office/drawing/2014/main" id="{E315DD3F-68B1-984E-562A-53EAA059938C}"/>
                </a:ext>
              </a:extLst>
            </p:cNvPr>
            <p:cNvSpPr/>
            <p:nvPr/>
          </p:nvSpPr>
          <p:spPr>
            <a:xfrm>
              <a:off x="0" y="0"/>
              <a:ext cx="585200" cy="337450"/>
            </a:xfrm>
            <a:custGeom>
              <a:avLst/>
              <a:gdLst/>
              <a:ahLst/>
              <a:cxnLst/>
              <a:rect l="l" t="t" r="r" b="b"/>
              <a:pathLst>
                <a:path w="585200" h="337450">
                  <a:moveTo>
                    <a:pt x="0" y="0"/>
                  </a:moveTo>
                  <a:lnTo>
                    <a:pt x="585200" y="0"/>
                  </a:lnTo>
                  <a:lnTo>
                    <a:pt x="585200" y="337450"/>
                  </a:lnTo>
                  <a:lnTo>
                    <a:pt x="0" y="337450"/>
                  </a:lnTo>
                  <a:close/>
                </a:path>
              </a:pathLst>
            </a:custGeom>
            <a:solidFill>
              <a:srgbClr val="F6F4F1"/>
            </a:solidFill>
            <a:ln w="57150" cap="sq">
              <a:solidFill>
                <a:srgbClr val="CDDADE"/>
              </a:solidFill>
              <a:prstDash val="solid"/>
              <a:miter/>
            </a:ln>
          </p:spPr>
        </p:sp>
        <p:sp>
          <p:nvSpPr>
            <p:cNvPr id="29" name="TextBox 20">
              <a:extLst>
                <a:ext uri="{FF2B5EF4-FFF2-40B4-BE49-F238E27FC236}">
                  <a16:creationId xmlns:a16="http://schemas.microsoft.com/office/drawing/2014/main" id="{E14644B2-1D63-B000-6D91-1BC165636D12}"/>
                </a:ext>
              </a:extLst>
            </p:cNvPr>
            <p:cNvSpPr txBox="1"/>
            <p:nvPr/>
          </p:nvSpPr>
          <p:spPr>
            <a:xfrm>
              <a:off x="0" y="-38100"/>
              <a:ext cx="585200" cy="375550"/>
            </a:xfrm>
            <a:prstGeom prst="rect">
              <a:avLst/>
            </a:prstGeom>
          </p:spPr>
          <p:txBody>
            <a:bodyPr lIns="50800" tIns="50800" rIns="50800" bIns="50800" rtlCol="0" anchor="ctr"/>
            <a:lstStyle/>
            <a:p>
              <a:pPr marL="0" lvl="0" indent="0" algn="ctr">
                <a:lnSpc>
                  <a:spcPts val="2799"/>
                </a:lnSpc>
                <a:spcBef>
                  <a:spcPct val="0"/>
                </a:spcBef>
              </a:pPr>
              <a:r>
                <a:rPr lang="en-US" sz="1999" u="none" strike="noStrike" spc="-39" dirty="0">
                  <a:solidFill>
                    <a:srgbClr val="1C3F60"/>
                  </a:solidFill>
                  <a:latin typeface="Inter"/>
                  <a:ea typeface="Inter"/>
                  <a:cs typeface="Inter"/>
                  <a:sym typeface="Inter"/>
                </a:rPr>
                <a:t>Leiden</a:t>
              </a:r>
            </a:p>
          </p:txBody>
        </p:sp>
      </p:grpSp>
      <p:sp>
        <p:nvSpPr>
          <p:cNvPr id="30" name="AutoShape 22">
            <a:extLst>
              <a:ext uri="{FF2B5EF4-FFF2-40B4-BE49-F238E27FC236}">
                <a16:creationId xmlns:a16="http://schemas.microsoft.com/office/drawing/2014/main" id="{77BFABAF-83B6-932C-78A7-2E9908D8286E}"/>
              </a:ext>
            </a:extLst>
          </p:cNvPr>
          <p:cNvSpPr/>
          <p:nvPr/>
        </p:nvSpPr>
        <p:spPr>
          <a:xfrm>
            <a:off x="10612206" y="4926343"/>
            <a:ext cx="887540" cy="0"/>
          </a:xfrm>
          <a:prstGeom prst="line">
            <a:avLst/>
          </a:prstGeom>
          <a:ln w="57150" cap="flat">
            <a:solidFill>
              <a:srgbClr val="CDDADE"/>
            </a:solidFill>
            <a:prstDash val="solid"/>
            <a:headEnd type="none" w="sm" len="sm"/>
            <a:tailEnd type="none" w="sm" len="sm"/>
          </a:ln>
        </p:spPr>
      </p:sp>
      <p:sp>
        <p:nvSpPr>
          <p:cNvPr id="31" name="AutoShape 23">
            <a:extLst>
              <a:ext uri="{FF2B5EF4-FFF2-40B4-BE49-F238E27FC236}">
                <a16:creationId xmlns:a16="http://schemas.microsoft.com/office/drawing/2014/main" id="{E7200ACC-7EE7-EC9C-675F-5F80E20F5CD9}"/>
              </a:ext>
            </a:extLst>
          </p:cNvPr>
          <p:cNvSpPr/>
          <p:nvPr/>
        </p:nvSpPr>
        <p:spPr>
          <a:xfrm>
            <a:off x="13721676" y="4926343"/>
            <a:ext cx="1975523" cy="0"/>
          </a:xfrm>
          <a:prstGeom prst="line">
            <a:avLst/>
          </a:prstGeom>
          <a:ln w="57150" cap="flat">
            <a:solidFill>
              <a:srgbClr val="CDDADE"/>
            </a:solidFill>
            <a:prstDash val="solid"/>
            <a:headEnd type="none" w="sm" len="sm"/>
            <a:tailEnd type="none" w="sm" len="sm"/>
          </a:ln>
        </p:spPr>
      </p:sp>
      <p:grpSp>
        <p:nvGrpSpPr>
          <p:cNvPr id="33" name="Group 18">
            <a:extLst>
              <a:ext uri="{FF2B5EF4-FFF2-40B4-BE49-F238E27FC236}">
                <a16:creationId xmlns:a16="http://schemas.microsoft.com/office/drawing/2014/main" id="{24B88055-D85E-EF54-7BE7-17BD286F0D31}"/>
              </a:ext>
            </a:extLst>
          </p:cNvPr>
          <p:cNvGrpSpPr/>
          <p:nvPr/>
        </p:nvGrpSpPr>
        <p:grpSpPr>
          <a:xfrm>
            <a:off x="14603055" y="5288328"/>
            <a:ext cx="2221932" cy="1425918"/>
            <a:chOff x="0" y="-38100"/>
            <a:chExt cx="585200" cy="375550"/>
          </a:xfrm>
        </p:grpSpPr>
        <p:sp>
          <p:nvSpPr>
            <p:cNvPr id="34" name="Freeform 19">
              <a:extLst>
                <a:ext uri="{FF2B5EF4-FFF2-40B4-BE49-F238E27FC236}">
                  <a16:creationId xmlns:a16="http://schemas.microsoft.com/office/drawing/2014/main" id="{E5789CC5-46F2-3203-F30D-8C99800CD060}"/>
                </a:ext>
              </a:extLst>
            </p:cNvPr>
            <p:cNvSpPr/>
            <p:nvPr/>
          </p:nvSpPr>
          <p:spPr>
            <a:xfrm>
              <a:off x="0" y="0"/>
              <a:ext cx="585200" cy="337450"/>
            </a:xfrm>
            <a:custGeom>
              <a:avLst/>
              <a:gdLst/>
              <a:ahLst/>
              <a:cxnLst/>
              <a:rect l="l" t="t" r="r" b="b"/>
              <a:pathLst>
                <a:path w="585200" h="337450">
                  <a:moveTo>
                    <a:pt x="0" y="0"/>
                  </a:moveTo>
                  <a:lnTo>
                    <a:pt x="585200" y="0"/>
                  </a:lnTo>
                  <a:lnTo>
                    <a:pt x="585200" y="337450"/>
                  </a:lnTo>
                  <a:lnTo>
                    <a:pt x="0" y="337450"/>
                  </a:lnTo>
                  <a:close/>
                </a:path>
              </a:pathLst>
            </a:custGeom>
            <a:solidFill>
              <a:srgbClr val="F6F4F1"/>
            </a:solidFill>
            <a:ln w="57150" cap="sq">
              <a:solidFill>
                <a:srgbClr val="CDDADE"/>
              </a:solidFill>
              <a:prstDash val="solid"/>
              <a:miter/>
            </a:ln>
          </p:spPr>
        </p:sp>
        <p:sp>
          <p:nvSpPr>
            <p:cNvPr id="35" name="TextBox 20">
              <a:extLst>
                <a:ext uri="{FF2B5EF4-FFF2-40B4-BE49-F238E27FC236}">
                  <a16:creationId xmlns:a16="http://schemas.microsoft.com/office/drawing/2014/main" id="{AA6E6960-173F-1830-9CD7-459CE9EA5A04}"/>
                </a:ext>
              </a:extLst>
            </p:cNvPr>
            <p:cNvSpPr txBox="1"/>
            <p:nvPr/>
          </p:nvSpPr>
          <p:spPr>
            <a:xfrm>
              <a:off x="0" y="-38100"/>
              <a:ext cx="585200" cy="375550"/>
            </a:xfrm>
            <a:prstGeom prst="rect">
              <a:avLst/>
            </a:prstGeom>
          </p:spPr>
          <p:txBody>
            <a:bodyPr lIns="50800" tIns="50800" rIns="50800" bIns="50800" rtlCol="0" anchor="ctr"/>
            <a:lstStyle/>
            <a:p>
              <a:pPr marL="0" lvl="0" indent="0" algn="ctr">
                <a:lnSpc>
                  <a:spcPts val="2799"/>
                </a:lnSpc>
                <a:spcBef>
                  <a:spcPct val="0"/>
                </a:spcBef>
              </a:pPr>
              <a:r>
                <a:rPr lang="en-US" sz="1999" u="none" strike="noStrike" spc="-39" dirty="0">
                  <a:solidFill>
                    <a:srgbClr val="1C3F60"/>
                  </a:solidFill>
                  <a:latin typeface="Inter"/>
                  <a:ea typeface="Inter"/>
                  <a:cs typeface="Inter"/>
                  <a:sym typeface="Inter"/>
                </a:rPr>
                <a:t>Centrality</a:t>
              </a:r>
            </a:p>
          </p:txBody>
        </p:sp>
      </p:grpSp>
      <p:sp>
        <p:nvSpPr>
          <p:cNvPr id="36" name="AutoShape 23">
            <a:extLst>
              <a:ext uri="{FF2B5EF4-FFF2-40B4-BE49-F238E27FC236}">
                <a16:creationId xmlns:a16="http://schemas.microsoft.com/office/drawing/2014/main" id="{7B7D8C16-0874-338C-DD5F-C7E0AEAFE5C6}"/>
              </a:ext>
            </a:extLst>
          </p:cNvPr>
          <p:cNvSpPr/>
          <p:nvPr/>
        </p:nvSpPr>
        <p:spPr>
          <a:xfrm flipH="1">
            <a:off x="15697200" y="4285714"/>
            <a:ext cx="0" cy="1147273"/>
          </a:xfrm>
          <a:prstGeom prst="line">
            <a:avLst/>
          </a:prstGeom>
          <a:ln w="57150" cap="flat">
            <a:solidFill>
              <a:srgbClr val="CDDADE"/>
            </a:solidFill>
            <a:prstDash val="solid"/>
            <a:headEnd type="none" w="sm" len="sm"/>
            <a:tailEnd type="none" w="sm" len="sm"/>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7"/>
          <p:cNvSpPr/>
          <p:nvPr/>
        </p:nvSpPr>
        <p:spPr>
          <a:xfrm>
            <a:off x="2227796" y="723900"/>
            <a:ext cx="6737158" cy="0"/>
          </a:xfrm>
          <a:prstGeom prst="line">
            <a:avLst/>
          </a:prstGeom>
          <a:ln w="19050" cap="flat">
            <a:solidFill>
              <a:srgbClr val="345C72">
                <a:alpha val="60000"/>
              </a:srgbClr>
            </a:solidFill>
            <a:prstDash val="solid"/>
            <a:headEnd type="none" w="sm" len="sm"/>
            <a:tailEnd type="none" w="sm" len="sm"/>
          </a:ln>
        </p:spPr>
      </p:sp>
      <p:sp>
        <p:nvSpPr>
          <p:cNvPr id="8" name="AutoShape 8"/>
          <p:cNvSpPr/>
          <p:nvPr/>
        </p:nvSpPr>
        <p:spPr>
          <a:xfrm>
            <a:off x="2227796" y="9563100"/>
            <a:ext cx="6737158" cy="0"/>
          </a:xfrm>
          <a:prstGeom prst="line">
            <a:avLst/>
          </a:prstGeom>
          <a:ln w="19050" cap="flat">
            <a:solidFill>
              <a:srgbClr val="345C72">
                <a:alpha val="60000"/>
              </a:srgbClr>
            </a:solidFill>
            <a:prstDash val="solid"/>
            <a:headEnd type="none" w="sm" len="sm"/>
            <a:tailEnd type="none" w="sm" len="sm"/>
          </a:ln>
        </p:spPr>
      </p:sp>
      <p:sp>
        <p:nvSpPr>
          <p:cNvPr id="9" name="Freeform 9"/>
          <p:cNvSpPr/>
          <p:nvPr/>
        </p:nvSpPr>
        <p:spPr>
          <a:xfrm rot="5400000">
            <a:off x="9450044" y="587810"/>
            <a:ext cx="11286889" cy="9190425"/>
          </a:xfrm>
          <a:custGeom>
            <a:avLst/>
            <a:gdLst/>
            <a:ahLst/>
            <a:cxnLst/>
            <a:rect l="l" t="t" r="r" b="b"/>
            <a:pathLst>
              <a:path w="11286889" h="9190425">
                <a:moveTo>
                  <a:pt x="0" y="0"/>
                </a:moveTo>
                <a:lnTo>
                  <a:pt x="11286889" y="0"/>
                </a:lnTo>
                <a:lnTo>
                  <a:pt x="11286889" y="9190425"/>
                </a:lnTo>
                <a:lnTo>
                  <a:pt x="0" y="9190425"/>
                </a:lnTo>
                <a:lnTo>
                  <a:pt x="0" y="0"/>
                </a:lnTo>
                <a:close/>
              </a:path>
            </a:pathLst>
          </a:custGeom>
          <a:blipFill>
            <a:blip r:embed="rId2"/>
            <a:stretch>
              <a:fillRect t="-44299" b="-40032"/>
            </a:stretch>
          </a:blipFill>
        </p:spPr>
      </p:sp>
      <p:sp>
        <p:nvSpPr>
          <p:cNvPr id="10" name="TextBox 10"/>
          <p:cNvSpPr txBox="1"/>
          <p:nvPr/>
        </p:nvSpPr>
        <p:spPr>
          <a:xfrm>
            <a:off x="11548743" y="3178280"/>
            <a:ext cx="6329008" cy="3077766"/>
          </a:xfrm>
          <a:prstGeom prst="rect">
            <a:avLst/>
          </a:prstGeom>
        </p:spPr>
        <p:txBody>
          <a:bodyPr wrap="square" lIns="0" tIns="0" rIns="0" bIns="0" rtlCol="0" anchor="t">
            <a:spAutoFit/>
          </a:bodyPr>
          <a:lstStyle/>
          <a:p>
            <a:pPr marL="0" lvl="0" indent="0" algn="just">
              <a:lnSpc>
                <a:spcPts val="8000"/>
              </a:lnSpc>
              <a:spcBef>
                <a:spcPct val="0"/>
              </a:spcBef>
            </a:pPr>
            <a:r>
              <a:rPr lang="en-US" sz="8000" dirty="0">
                <a:solidFill>
                  <a:srgbClr val="1C3F60"/>
                </a:solidFill>
                <a:latin typeface="Inter"/>
                <a:ea typeface="Inter"/>
                <a:cs typeface="Inter"/>
                <a:sym typeface="Inter"/>
              </a:rPr>
              <a:t>Analytics and Observations</a:t>
            </a:r>
            <a:endParaRPr lang="en-US" sz="8000" u="none" strike="noStrike" dirty="0">
              <a:solidFill>
                <a:srgbClr val="1C3F60"/>
              </a:solidFill>
              <a:latin typeface="Inter"/>
              <a:ea typeface="Inter"/>
              <a:cs typeface="Inter"/>
              <a:sym typeface="Inter"/>
            </a:endParaRPr>
          </a:p>
        </p:txBody>
      </p:sp>
      <p:sp>
        <p:nvSpPr>
          <p:cNvPr id="11" name="AutoShape 11"/>
          <p:cNvSpPr/>
          <p:nvPr/>
        </p:nvSpPr>
        <p:spPr>
          <a:xfrm flipV="1">
            <a:off x="11548743" y="6896100"/>
            <a:ext cx="4782381" cy="19050"/>
          </a:xfrm>
          <a:prstGeom prst="line">
            <a:avLst/>
          </a:prstGeom>
          <a:ln w="38100" cap="flat">
            <a:solidFill>
              <a:srgbClr val="345C72">
                <a:alpha val="60000"/>
              </a:srgbClr>
            </a:solidFill>
            <a:prstDash val="solid"/>
            <a:headEnd type="none" w="sm" len="sm"/>
            <a:tailEnd type="none" w="sm" len="sm"/>
          </a:ln>
        </p:spPr>
      </p:sp>
      <p:grpSp>
        <p:nvGrpSpPr>
          <p:cNvPr id="12" name="Group 4">
            <a:extLst>
              <a:ext uri="{FF2B5EF4-FFF2-40B4-BE49-F238E27FC236}">
                <a16:creationId xmlns:a16="http://schemas.microsoft.com/office/drawing/2014/main" id="{97D28357-707A-05A5-AD73-20E6952E0A91}"/>
              </a:ext>
            </a:extLst>
          </p:cNvPr>
          <p:cNvGrpSpPr/>
          <p:nvPr/>
        </p:nvGrpSpPr>
        <p:grpSpPr>
          <a:xfrm>
            <a:off x="2227796" y="1485907"/>
            <a:ext cx="6611404" cy="7162789"/>
            <a:chOff x="0" y="0"/>
            <a:chExt cx="1302216" cy="1383098"/>
          </a:xfrm>
        </p:grpSpPr>
        <p:sp>
          <p:nvSpPr>
            <p:cNvPr id="13" name="Freeform 5">
              <a:extLst>
                <a:ext uri="{FF2B5EF4-FFF2-40B4-BE49-F238E27FC236}">
                  <a16:creationId xmlns:a16="http://schemas.microsoft.com/office/drawing/2014/main" id="{89A3E0A8-FFEB-3411-4081-6241AC693C44}"/>
                </a:ext>
              </a:extLst>
            </p:cNvPr>
            <p:cNvSpPr/>
            <p:nvPr/>
          </p:nvSpPr>
          <p:spPr>
            <a:xfrm>
              <a:off x="0" y="0"/>
              <a:ext cx="1302216" cy="1383098"/>
            </a:xfrm>
            <a:custGeom>
              <a:avLst/>
              <a:gdLst/>
              <a:ahLst/>
              <a:cxnLst/>
              <a:rect l="l" t="t" r="r" b="b"/>
              <a:pathLst>
                <a:path w="1302216" h="1383098">
                  <a:moveTo>
                    <a:pt x="0" y="0"/>
                  </a:moveTo>
                  <a:lnTo>
                    <a:pt x="1302216" y="0"/>
                  </a:lnTo>
                  <a:lnTo>
                    <a:pt x="1302216" y="1383098"/>
                  </a:lnTo>
                  <a:lnTo>
                    <a:pt x="0" y="1383098"/>
                  </a:lnTo>
                  <a:close/>
                </a:path>
              </a:pathLst>
            </a:custGeom>
            <a:solidFill>
              <a:srgbClr val="F6F4F1"/>
            </a:solidFill>
            <a:ln w="57150" cap="sq">
              <a:solidFill>
                <a:srgbClr val="CDDADE"/>
              </a:solidFill>
              <a:prstDash val="solid"/>
              <a:miter/>
            </a:ln>
          </p:spPr>
        </p:sp>
        <p:sp>
          <p:nvSpPr>
            <p:cNvPr id="14" name="TextBox 6">
              <a:extLst>
                <a:ext uri="{FF2B5EF4-FFF2-40B4-BE49-F238E27FC236}">
                  <a16:creationId xmlns:a16="http://schemas.microsoft.com/office/drawing/2014/main" id="{BD90822F-BFD2-753A-8448-ADC2FDAB0D2B}"/>
                </a:ext>
              </a:extLst>
            </p:cNvPr>
            <p:cNvSpPr txBox="1"/>
            <p:nvPr/>
          </p:nvSpPr>
          <p:spPr>
            <a:xfrm>
              <a:off x="0" y="-38100"/>
              <a:ext cx="1302216" cy="1421198"/>
            </a:xfrm>
            <a:prstGeom prst="rect">
              <a:avLst/>
            </a:prstGeom>
          </p:spPr>
          <p:txBody>
            <a:bodyPr lIns="50800" tIns="50800" rIns="50800" bIns="50800" rtlCol="0" anchor="ctr"/>
            <a:lstStyle/>
            <a:p>
              <a:pPr marL="0" lvl="0" indent="0" algn="ctr">
                <a:lnSpc>
                  <a:spcPts val="2799"/>
                </a:lnSpc>
                <a:spcBef>
                  <a:spcPct val="0"/>
                </a:spcBef>
              </a:pPr>
              <a:endParaRPr/>
            </a:p>
          </p:txBody>
        </p:sp>
      </p:grpSp>
      <p:sp>
        <p:nvSpPr>
          <p:cNvPr id="15" name="TextBox 15">
            <a:extLst>
              <a:ext uri="{FF2B5EF4-FFF2-40B4-BE49-F238E27FC236}">
                <a16:creationId xmlns:a16="http://schemas.microsoft.com/office/drawing/2014/main" id="{6DEE7888-2C95-6C45-C60E-B2943F5FEEB0}"/>
              </a:ext>
            </a:extLst>
          </p:cNvPr>
          <p:cNvSpPr txBox="1"/>
          <p:nvPr/>
        </p:nvSpPr>
        <p:spPr>
          <a:xfrm>
            <a:off x="2590800" y="2017038"/>
            <a:ext cx="1444016" cy="491490"/>
          </a:xfrm>
          <a:prstGeom prst="rect">
            <a:avLst/>
          </a:prstGeom>
        </p:spPr>
        <p:txBody>
          <a:bodyPr lIns="0" tIns="0" rIns="0" bIns="0" rtlCol="0" anchor="t">
            <a:spAutoFit/>
          </a:bodyPr>
          <a:lstStyle/>
          <a:p>
            <a:pPr marL="0" lvl="0" indent="0" algn="just">
              <a:lnSpc>
                <a:spcPts val="3600"/>
              </a:lnSpc>
              <a:spcBef>
                <a:spcPct val="0"/>
              </a:spcBef>
            </a:pPr>
            <a:r>
              <a:rPr lang="en-US" sz="3600" dirty="0">
                <a:solidFill>
                  <a:srgbClr val="1C3F60"/>
                </a:solidFill>
                <a:latin typeface="Inter"/>
                <a:ea typeface="Inter"/>
                <a:cs typeface="Inter"/>
                <a:sym typeface="Inter"/>
              </a:rPr>
              <a:t>0</a:t>
            </a:r>
            <a:r>
              <a:rPr lang="en-US" sz="3600" u="none" strike="noStrike" dirty="0">
                <a:solidFill>
                  <a:srgbClr val="1C3F60"/>
                </a:solidFill>
                <a:latin typeface="Inter"/>
                <a:ea typeface="Inter"/>
                <a:cs typeface="Inter"/>
                <a:sym typeface="Inter"/>
              </a:rPr>
              <a:t>1</a:t>
            </a:r>
          </a:p>
        </p:txBody>
      </p:sp>
      <p:sp>
        <p:nvSpPr>
          <p:cNvPr id="16" name="TextBox 10">
            <a:extLst>
              <a:ext uri="{FF2B5EF4-FFF2-40B4-BE49-F238E27FC236}">
                <a16:creationId xmlns:a16="http://schemas.microsoft.com/office/drawing/2014/main" id="{26D48F98-12A0-E6CC-74C2-9493F09E0C85}"/>
              </a:ext>
            </a:extLst>
          </p:cNvPr>
          <p:cNvSpPr txBox="1"/>
          <p:nvPr/>
        </p:nvSpPr>
        <p:spPr>
          <a:xfrm>
            <a:off x="2590800" y="2705840"/>
            <a:ext cx="4032717" cy="472440"/>
          </a:xfrm>
          <a:prstGeom prst="rect">
            <a:avLst/>
          </a:prstGeom>
        </p:spPr>
        <p:txBody>
          <a:bodyPr lIns="0" tIns="0" rIns="0" bIns="0" rtlCol="0" anchor="t">
            <a:spAutoFit/>
          </a:bodyPr>
          <a:lstStyle/>
          <a:p>
            <a:pPr algn="l">
              <a:lnSpc>
                <a:spcPts val="3599"/>
              </a:lnSpc>
            </a:pPr>
            <a:r>
              <a:rPr lang="en-US" sz="3599" b="1" dirty="0">
                <a:solidFill>
                  <a:srgbClr val="1C3F60"/>
                </a:solidFill>
                <a:latin typeface="Inter Bold"/>
                <a:ea typeface="Inter Bold"/>
                <a:cs typeface="Inter Bold"/>
                <a:sym typeface="Inter Bold"/>
              </a:rPr>
              <a:t>Graph structure</a:t>
            </a:r>
          </a:p>
        </p:txBody>
      </p:sp>
      <p:sp>
        <p:nvSpPr>
          <p:cNvPr id="17" name="TextBox 12">
            <a:extLst>
              <a:ext uri="{FF2B5EF4-FFF2-40B4-BE49-F238E27FC236}">
                <a16:creationId xmlns:a16="http://schemas.microsoft.com/office/drawing/2014/main" id="{E4896F1C-85B2-7302-9E9D-DE2198AECFA6}"/>
              </a:ext>
            </a:extLst>
          </p:cNvPr>
          <p:cNvSpPr txBox="1"/>
          <p:nvPr/>
        </p:nvSpPr>
        <p:spPr>
          <a:xfrm>
            <a:off x="2590800" y="3523500"/>
            <a:ext cx="5867400" cy="4280403"/>
          </a:xfrm>
          <a:prstGeom prst="rect">
            <a:avLst/>
          </a:prstGeom>
        </p:spPr>
        <p:txBody>
          <a:bodyPr wrap="square" lIns="0" tIns="0" rIns="0" bIns="0" rtlCol="0" anchor="t">
            <a:spAutoFit/>
          </a:bodyPr>
          <a:lstStyle/>
          <a:p>
            <a:pPr>
              <a:lnSpc>
                <a:spcPts val="2799"/>
              </a:lnSpc>
              <a:spcBef>
                <a:spcPct val="0"/>
              </a:spcBef>
            </a:pPr>
            <a:r>
              <a:rPr lang="en-US" sz="1999" u="none" strike="noStrike" spc="-39" dirty="0">
                <a:solidFill>
                  <a:srgbClr val="1C191A"/>
                </a:solidFill>
                <a:latin typeface="Inter"/>
                <a:ea typeface="Inter"/>
                <a:cs typeface="Inter"/>
                <a:sym typeface="Inter"/>
              </a:rPr>
              <a:t>The graph that I got from the dataset has </a:t>
            </a:r>
            <a:r>
              <a:rPr lang="en-US" sz="1999" b="1" u="none" strike="noStrike" spc="-39" dirty="0">
                <a:solidFill>
                  <a:srgbClr val="1C191A"/>
                </a:solidFill>
                <a:latin typeface="Inter"/>
                <a:ea typeface="Inter"/>
                <a:cs typeface="Inter"/>
                <a:sym typeface="Inter"/>
              </a:rPr>
              <a:t>179 nodes </a:t>
            </a:r>
            <a:r>
              <a:rPr lang="en-US" sz="1999" u="none" strike="noStrike" spc="-39" dirty="0">
                <a:solidFill>
                  <a:srgbClr val="1C191A"/>
                </a:solidFill>
                <a:latin typeface="Inter"/>
                <a:ea typeface="Inter"/>
                <a:cs typeface="Inter"/>
                <a:sym typeface="Inter"/>
              </a:rPr>
              <a:t>and </a:t>
            </a:r>
            <a:r>
              <a:rPr lang="en-US" sz="1999" b="1" u="none" strike="noStrike" spc="-39" dirty="0">
                <a:solidFill>
                  <a:srgbClr val="1C191A"/>
                </a:solidFill>
                <a:latin typeface="Inter"/>
                <a:ea typeface="Inter"/>
                <a:cs typeface="Inter"/>
                <a:sym typeface="Inter"/>
              </a:rPr>
              <a:t>744 edges </a:t>
            </a:r>
            <a:r>
              <a:rPr lang="en-US" sz="1999" u="none" strike="noStrike" spc="-39" dirty="0">
                <a:solidFill>
                  <a:srgbClr val="1C191A"/>
                </a:solidFill>
                <a:latin typeface="Inter"/>
                <a:ea typeface="Inter"/>
                <a:cs typeface="Inter"/>
                <a:sym typeface="Inter"/>
              </a:rPr>
              <a:t>in total. It signifies that not all words are connected with each other. </a:t>
            </a:r>
            <a:r>
              <a:rPr lang="en-US" sz="1999" spc="-39" dirty="0">
                <a:solidFill>
                  <a:srgbClr val="1C191A"/>
                </a:solidFill>
                <a:latin typeface="Inter"/>
                <a:ea typeface="Inter"/>
                <a:cs typeface="Inter"/>
                <a:sym typeface="Inter"/>
              </a:rPr>
              <a:t>Figure 1 shows a sample of the co-occurrence list that has 3 columns – ‘Source’ as the source node, ‘Target’ as the end node and ‘Weight’ as the corresponding edge weight.</a:t>
            </a:r>
          </a:p>
          <a:p>
            <a:pPr marL="0" lvl="0" indent="0" algn="l">
              <a:lnSpc>
                <a:spcPts val="2799"/>
              </a:lnSpc>
              <a:spcBef>
                <a:spcPct val="0"/>
              </a:spcBef>
            </a:pPr>
            <a:endParaRPr lang="en-US" sz="1999" spc="-39" dirty="0">
              <a:solidFill>
                <a:srgbClr val="1C191A"/>
              </a:solidFill>
              <a:latin typeface="Inter"/>
              <a:ea typeface="Inter"/>
              <a:cs typeface="Inter"/>
              <a:sym typeface="Inter"/>
            </a:endParaRPr>
          </a:p>
          <a:p>
            <a:pPr marL="0" lvl="0" indent="0" algn="l">
              <a:lnSpc>
                <a:spcPts val="2799"/>
              </a:lnSpc>
              <a:spcBef>
                <a:spcPct val="0"/>
              </a:spcBef>
            </a:pPr>
            <a:r>
              <a:rPr lang="en-US" sz="1999" u="none" strike="noStrike" spc="-39" dirty="0">
                <a:solidFill>
                  <a:srgbClr val="1C191A"/>
                </a:solidFill>
                <a:latin typeface="Inter"/>
                <a:ea typeface="Inter"/>
                <a:cs typeface="Inter"/>
                <a:sym typeface="Inter"/>
              </a:rPr>
              <a:t>To get a better visualization of the graph structure and identify communities in the graph I used </a:t>
            </a:r>
            <a:r>
              <a:rPr lang="en-US" sz="1999" b="1" i="1" u="none" strike="noStrike" spc="-39" dirty="0">
                <a:solidFill>
                  <a:srgbClr val="1C191A"/>
                </a:solidFill>
                <a:latin typeface="Inter"/>
                <a:ea typeface="Inter"/>
                <a:cs typeface="Inter"/>
                <a:sym typeface="Inter"/>
              </a:rPr>
              <a:t>Gephi </a:t>
            </a:r>
            <a:r>
              <a:rPr lang="en-US" sz="1999" spc="-39" dirty="0">
                <a:solidFill>
                  <a:srgbClr val="1C191A"/>
                </a:solidFill>
                <a:latin typeface="Inter"/>
                <a:ea typeface="Inter"/>
                <a:cs typeface="Inter"/>
                <a:sym typeface="Inter"/>
              </a:rPr>
              <a:t>software. Figure 2 depicts the word-cooccurrence graph. </a:t>
            </a:r>
            <a:endParaRPr lang="en-US" sz="1999" u="none" strike="noStrike" spc="-39" dirty="0">
              <a:solidFill>
                <a:srgbClr val="1C191A"/>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1E8A1EDE-38AC-5D95-33A6-C219AA0951C8}"/>
              </a:ext>
            </a:extLst>
          </p:cNvPr>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pic>
        <p:nvPicPr>
          <p:cNvPr id="19" name="Picture 18">
            <a:extLst>
              <a:ext uri="{FF2B5EF4-FFF2-40B4-BE49-F238E27FC236}">
                <a16:creationId xmlns:a16="http://schemas.microsoft.com/office/drawing/2014/main" id="{AE019630-1001-9298-181A-10382F680F6E}"/>
              </a:ext>
            </a:extLst>
          </p:cNvPr>
          <p:cNvPicPr>
            <a:picLocks noChangeAspect="1"/>
          </p:cNvPicPr>
          <p:nvPr/>
        </p:nvPicPr>
        <p:blipFill>
          <a:blip r:embed="rId3"/>
          <a:stretch>
            <a:fillRect/>
          </a:stretch>
        </p:blipFill>
        <p:spPr>
          <a:xfrm>
            <a:off x="1066800" y="571500"/>
            <a:ext cx="4191000" cy="8577408"/>
          </a:xfrm>
          <a:prstGeom prst="rect">
            <a:avLst/>
          </a:prstGeom>
        </p:spPr>
      </p:pic>
      <p:pic>
        <p:nvPicPr>
          <p:cNvPr id="12" name="Picture 11">
            <a:extLst>
              <a:ext uri="{FF2B5EF4-FFF2-40B4-BE49-F238E27FC236}">
                <a16:creationId xmlns:a16="http://schemas.microsoft.com/office/drawing/2014/main" id="{6DF99DEA-DD50-5D68-03ED-6C1570DB8112}"/>
              </a:ext>
            </a:extLst>
          </p:cNvPr>
          <p:cNvPicPr>
            <a:picLocks noChangeAspect="1"/>
          </p:cNvPicPr>
          <p:nvPr/>
        </p:nvPicPr>
        <p:blipFill>
          <a:blip r:embed="rId4"/>
          <a:stretch>
            <a:fillRect/>
          </a:stretch>
        </p:blipFill>
        <p:spPr>
          <a:xfrm>
            <a:off x="6934200" y="266700"/>
            <a:ext cx="9601200" cy="8951964"/>
          </a:xfrm>
          <a:prstGeom prst="rect">
            <a:avLst/>
          </a:prstGeom>
        </p:spPr>
      </p:pic>
      <p:sp>
        <p:nvSpPr>
          <p:cNvPr id="14" name="TextBox 13">
            <a:extLst>
              <a:ext uri="{FF2B5EF4-FFF2-40B4-BE49-F238E27FC236}">
                <a16:creationId xmlns:a16="http://schemas.microsoft.com/office/drawing/2014/main" id="{4AB5FA43-A12A-0A76-38BD-CBAEF5B43AFF}"/>
              </a:ext>
            </a:extLst>
          </p:cNvPr>
          <p:cNvSpPr txBox="1"/>
          <p:nvPr/>
        </p:nvSpPr>
        <p:spPr>
          <a:xfrm>
            <a:off x="1066800" y="9218664"/>
            <a:ext cx="4191000" cy="646331"/>
          </a:xfrm>
          <a:prstGeom prst="rect">
            <a:avLst/>
          </a:prstGeom>
          <a:noFill/>
        </p:spPr>
        <p:txBody>
          <a:bodyPr wrap="square" rtlCol="0">
            <a:spAutoFit/>
          </a:bodyPr>
          <a:lstStyle/>
          <a:p>
            <a:r>
              <a:rPr lang="en-US" b="1" dirty="0"/>
              <a:t>Fig 1: Table of Co-occurrence network Edges</a:t>
            </a:r>
          </a:p>
        </p:txBody>
      </p:sp>
      <p:sp>
        <p:nvSpPr>
          <p:cNvPr id="15" name="TextBox 14">
            <a:extLst>
              <a:ext uri="{FF2B5EF4-FFF2-40B4-BE49-F238E27FC236}">
                <a16:creationId xmlns:a16="http://schemas.microsoft.com/office/drawing/2014/main" id="{B187364E-E02B-9CC3-1082-38D8BD4D969C}"/>
              </a:ext>
            </a:extLst>
          </p:cNvPr>
          <p:cNvSpPr txBox="1"/>
          <p:nvPr/>
        </p:nvSpPr>
        <p:spPr>
          <a:xfrm>
            <a:off x="6934200" y="9218664"/>
            <a:ext cx="9601200" cy="369332"/>
          </a:xfrm>
          <a:prstGeom prst="rect">
            <a:avLst/>
          </a:prstGeom>
          <a:noFill/>
        </p:spPr>
        <p:txBody>
          <a:bodyPr wrap="square" rtlCol="0">
            <a:spAutoFit/>
          </a:bodyPr>
          <a:lstStyle/>
          <a:p>
            <a:pPr algn="ctr"/>
            <a:r>
              <a:rPr lang="en-US" b="1" dirty="0"/>
              <a:t>Fig 2: Graph representing the Word-Cooccurrence network</a:t>
            </a:r>
          </a:p>
        </p:txBody>
      </p:sp>
    </p:spTree>
    <p:extLst>
      <p:ext uri="{BB962C8B-B14F-4D97-AF65-F5344CB8AC3E}">
        <p14:creationId xmlns:p14="http://schemas.microsoft.com/office/powerpoint/2010/main" val="617550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4C5B5B20-CFAD-8AD2-BA52-385D4ABF7D59}"/>
              </a:ext>
            </a:extLst>
          </p:cNvPr>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sp>
        <p:nvSpPr>
          <p:cNvPr id="4" name="AutoShape 7">
            <a:extLst>
              <a:ext uri="{FF2B5EF4-FFF2-40B4-BE49-F238E27FC236}">
                <a16:creationId xmlns:a16="http://schemas.microsoft.com/office/drawing/2014/main" id="{21D3A3D8-C210-F026-12E8-3B36EA3D1169}"/>
              </a:ext>
            </a:extLst>
          </p:cNvPr>
          <p:cNvSpPr/>
          <p:nvPr/>
        </p:nvSpPr>
        <p:spPr>
          <a:xfrm>
            <a:off x="1295400" y="723900"/>
            <a:ext cx="6737158" cy="0"/>
          </a:xfrm>
          <a:prstGeom prst="line">
            <a:avLst/>
          </a:prstGeom>
          <a:ln w="19050" cap="flat">
            <a:solidFill>
              <a:srgbClr val="345C72">
                <a:alpha val="60000"/>
              </a:srgbClr>
            </a:solidFill>
            <a:prstDash val="solid"/>
            <a:headEnd type="none" w="sm" len="sm"/>
            <a:tailEnd type="none" w="sm" len="sm"/>
          </a:ln>
        </p:spPr>
      </p:sp>
      <p:sp>
        <p:nvSpPr>
          <p:cNvPr id="5" name="AutoShape 8">
            <a:extLst>
              <a:ext uri="{FF2B5EF4-FFF2-40B4-BE49-F238E27FC236}">
                <a16:creationId xmlns:a16="http://schemas.microsoft.com/office/drawing/2014/main" id="{AE5E1614-93E3-85A5-F3D6-07BEF4E98ABB}"/>
              </a:ext>
            </a:extLst>
          </p:cNvPr>
          <p:cNvSpPr/>
          <p:nvPr/>
        </p:nvSpPr>
        <p:spPr>
          <a:xfrm>
            <a:off x="1295400" y="9563100"/>
            <a:ext cx="6737158" cy="0"/>
          </a:xfrm>
          <a:prstGeom prst="line">
            <a:avLst/>
          </a:prstGeom>
          <a:ln w="19050" cap="flat">
            <a:solidFill>
              <a:srgbClr val="345C72">
                <a:alpha val="60000"/>
              </a:srgbClr>
            </a:solidFill>
            <a:prstDash val="solid"/>
            <a:headEnd type="none" w="sm" len="sm"/>
            <a:tailEnd type="none" w="sm" len="sm"/>
          </a:ln>
        </p:spPr>
      </p:sp>
      <p:grpSp>
        <p:nvGrpSpPr>
          <p:cNvPr id="6" name="Group 4">
            <a:extLst>
              <a:ext uri="{FF2B5EF4-FFF2-40B4-BE49-F238E27FC236}">
                <a16:creationId xmlns:a16="http://schemas.microsoft.com/office/drawing/2014/main" id="{481743DE-7C3E-B95C-FA48-A4FD673220BC}"/>
              </a:ext>
            </a:extLst>
          </p:cNvPr>
          <p:cNvGrpSpPr/>
          <p:nvPr/>
        </p:nvGrpSpPr>
        <p:grpSpPr>
          <a:xfrm>
            <a:off x="1295400" y="1485907"/>
            <a:ext cx="6611404" cy="7543793"/>
            <a:chOff x="0" y="0"/>
            <a:chExt cx="1302216" cy="1383098"/>
          </a:xfrm>
        </p:grpSpPr>
        <p:sp>
          <p:nvSpPr>
            <p:cNvPr id="7" name="Freeform 5">
              <a:extLst>
                <a:ext uri="{FF2B5EF4-FFF2-40B4-BE49-F238E27FC236}">
                  <a16:creationId xmlns:a16="http://schemas.microsoft.com/office/drawing/2014/main" id="{42C13601-25E4-1A24-7EAC-B27A5070A923}"/>
                </a:ext>
              </a:extLst>
            </p:cNvPr>
            <p:cNvSpPr/>
            <p:nvPr/>
          </p:nvSpPr>
          <p:spPr>
            <a:xfrm>
              <a:off x="0" y="0"/>
              <a:ext cx="1302216" cy="1383098"/>
            </a:xfrm>
            <a:custGeom>
              <a:avLst/>
              <a:gdLst/>
              <a:ahLst/>
              <a:cxnLst/>
              <a:rect l="l" t="t" r="r" b="b"/>
              <a:pathLst>
                <a:path w="1302216" h="1383098">
                  <a:moveTo>
                    <a:pt x="0" y="0"/>
                  </a:moveTo>
                  <a:lnTo>
                    <a:pt x="1302216" y="0"/>
                  </a:lnTo>
                  <a:lnTo>
                    <a:pt x="1302216" y="1383098"/>
                  </a:lnTo>
                  <a:lnTo>
                    <a:pt x="0" y="1383098"/>
                  </a:lnTo>
                  <a:close/>
                </a:path>
              </a:pathLst>
            </a:custGeom>
            <a:solidFill>
              <a:srgbClr val="F6F4F1"/>
            </a:solidFill>
            <a:ln w="57150" cap="sq">
              <a:solidFill>
                <a:srgbClr val="CDDADE"/>
              </a:solidFill>
              <a:prstDash val="solid"/>
              <a:miter/>
            </a:ln>
          </p:spPr>
        </p:sp>
        <p:sp>
          <p:nvSpPr>
            <p:cNvPr id="8" name="TextBox 6">
              <a:extLst>
                <a:ext uri="{FF2B5EF4-FFF2-40B4-BE49-F238E27FC236}">
                  <a16:creationId xmlns:a16="http://schemas.microsoft.com/office/drawing/2014/main" id="{E6E01DFF-7658-4180-ABD2-43F2D6A4C07F}"/>
                </a:ext>
              </a:extLst>
            </p:cNvPr>
            <p:cNvSpPr txBox="1"/>
            <p:nvPr/>
          </p:nvSpPr>
          <p:spPr>
            <a:xfrm>
              <a:off x="0" y="-38100"/>
              <a:ext cx="1302216" cy="1421198"/>
            </a:xfrm>
            <a:prstGeom prst="rect">
              <a:avLst/>
            </a:prstGeom>
          </p:spPr>
          <p:txBody>
            <a:bodyPr lIns="50800" tIns="50800" rIns="50800" bIns="50800" rtlCol="0" anchor="ctr"/>
            <a:lstStyle/>
            <a:p>
              <a:pPr marL="0" lvl="0" indent="0" algn="ctr">
                <a:lnSpc>
                  <a:spcPts val="2799"/>
                </a:lnSpc>
                <a:spcBef>
                  <a:spcPct val="0"/>
                </a:spcBef>
              </a:pPr>
              <a:endParaRPr/>
            </a:p>
          </p:txBody>
        </p:sp>
      </p:grpSp>
      <p:sp>
        <p:nvSpPr>
          <p:cNvPr id="9" name="AutoShape 7">
            <a:extLst>
              <a:ext uri="{FF2B5EF4-FFF2-40B4-BE49-F238E27FC236}">
                <a16:creationId xmlns:a16="http://schemas.microsoft.com/office/drawing/2014/main" id="{4A857453-539E-4034-11FC-A4621DE65C47}"/>
              </a:ext>
            </a:extLst>
          </p:cNvPr>
          <p:cNvSpPr/>
          <p:nvPr/>
        </p:nvSpPr>
        <p:spPr>
          <a:xfrm>
            <a:off x="10134600" y="682459"/>
            <a:ext cx="6737158" cy="0"/>
          </a:xfrm>
          <a:prstGeom prst="line">
            <a:avLst/>
          </a:prstGeom>
          <a:ln w="19050" cap="flat">
            <a:solidFill>
              <a:srgbClr val="345C72">
                <a:alpha val="60000"/>
              </a:srgbClr>
            </a:solidFill>
            <a:prstDash val="solid"/>
            <a:headEnd type="none" w="sm" len="sm"/>
            <a:tailEnd type="none" w="sm" len="sm"/>
          </a:ln>
        </p:spPr>
      </p:sp>
      <p:sp>
        <p:nvSpPr>
          <p:cNvPr id="10" name="AutoShape 8">
            <a:extLst>
              <a:ext uri="{FF2B5EF4-FFF2-40B4-BE49-F238E27FC236}">
                <a16:creationId xmlns:a16="http://schemas.microsoft.com/office/drawing/2014/main" id="{15918781-EE70-AC1E-D171-366BB7794105}"/>
              </a:ext>
            </a:extLst>
          </p:cNvPr>
          <p:cNvSpPr/>
          <p:nvPr/>
        </p:nvSpPr>
        <p:spPr>
          <a:xfrm>
            <a:off x="10134600" y="9521659"/>
            <a:ext cx="6737158" cy="0"/>
          </a:xfrm>
          <a:prstGeom prst="line">
            <a:avLst/>
          </a:prstGeom>
          <a:ln w="19050" cap="flat">
            <a:solidFill>
              <a:srgbClr val="345C72">
                <a:alpha val="60000"/>
              </a:srgbClr>
            </a:solidFill>
            <a:prstDash val="solid"/>
            <a:headEnd type="none" w="sm" len="sm"/>
            <a:tailEnd type="none" w="sm" len="sm"/>
          </a:ln>
        </p:spPr>
      </p:sp>
      <p:grpSp>
        <p:nvGrpSpPr>
          <p:cNvPr id="11" name="Group 4">
            <a:extLst>
              <a:ext uri="{FF2B5EF4-FFF2-40B4-BE49-F238E27FC236}">
                <a16:creationId xmlns:a16="http://schemas.microsoft.com/office/drawing/2014/main" id="{F77B9E29-912D-97EB-9D68-94E11748CC13}"/>
              </a:ext>
            </a:extLst>
          </p:cNvPr>
          <p:cNvGrpSpPr/>
          <p:nvPr/>
        </p:nvGrpSpPr>
        <p:grpSpPr>
          <a:xfrm>
            <a:off x="10134600" y="1444466"/>
            <a:ext cx="6611404" cy="7585233"/>
            <a:chOff x="0" y="0"/>
            <a:chExt cx="1302216" cy="1383098"/>
          </a:xfrm>
        </p:grpSpPr>
        <p:sp>
          <p:nvSpPr>
            <p:cNvPr id="12" name="Freeform 5">
              <a:extLst>
                <a:ext uri="{FF2B5EF4-FFF2-40B4-BE49-F238E27FC236}">
                  <a16:creationId xmlns:a16="http://schemas.microsoft.com/office/drawing/2014/main" id="{6DC95CF8-11A6-A1F7-FD1D-3704E59D7973}"/>
                </a:ext>
              </a:extLst>
            </p:cNvPr>
            <p:cNvSpPr/>
            <p:nvPr/>
          </p:nvSpPr>
          <p:spPr>
            <a:xfrm>
              <a:off x="0" y="0"/>
              <a:ext cx="1302216" cy="1383098"/>
            </a:xfrm>
            <a:custGeom>
              <a:avLst/>
              <a:gdLst/>
              <a:ahLst/>
              <a:cxnLst/>
              <a:rect l="l" t="t" r="r" b="b"/>
              <a:pathLst>
                <a:path w="1302216" h="1383098">
                  <a:moveTo>
                    <a:pt x="0" y="0"/>
                  </a:moveTo>
                  <a:lnTo>
                    <a:pt x="1302216" y="0"/>
                  </a:lnTo>
                  <a:lnTo>
                    <a:pt x="1302216" y="1383098"/>
                  </a:lnTo>
                  <a:lnTo>
                    <a:pt x="0" y="1383098"/>
                  </a:lnTo>
                  <a:close/>
                </a:path>
              </a:pathLst>
            </a:custGeom>
            <a:solidFill>
              <a:srgbClr val="F6F4F1"/>
            </a:solidFill>
            <a:ln w="57150" cap="sq">
              <a:solidFill>
                <a:srgbClr val="CDDADE"/>
              </a:solidFill>
              <a:prstDash val="solid"/>
              <a:miter/>
            </a:ln>
          </p:spPr>
        </p:sp>
        <p:sp>
          <p:nvSpPr>
            <p:cNvPr id="13" name="TextBox 6">
              <a:extLst>
                <a:ext uri="{FF2B5EF4-FFF2-40B4-BE49-F238E27FC236}">
                  <a16:creationId xmlns:a16="http://schemas.microsoft.com/office/drawing/2014/main" id="{EED91C79-E916-375D-BC4E-2451CC067F09}"/>
                </a:ext>
              </a:extLst>
            </p:cNvPr>
            <p:cNvSpPr txBox="1"/>
            <p:nvPr/>
          </p:nvSpPr>
          <p:spPr>
            <a:xfrm>
              <a:off x="0" y="-38100"/>
              <a:ext cx="1302216" cy="1421198"/>
            </a:xfrm>
            <a:prstGeom prst="rect">
              <a:avLst/>
            </a:prstGeom>
          </p:spPr>
          <p:txBody>
            <a:bodyPr lIns="50800" tIns="50800" rIns="50800" bIns="50800" rtlCol="0" anchor="ctr"/>
            <a:lstStyle/>
            <a:p>
              <a:pPr marL="0" lvl="0" indent="0" algn="ctr">
                <a:lnSpc>
                  <a:spcPts val="2799"/>
                </a:lnSpc>
                <a:spcBef>
                  <a:spcPct val="0"/>
                </a:spcBef>
              </a:pPr>
              <a:endParaRPr/>
            </a:p>
          </p:txBody>
        </p:sp>
      </p:grpSp>
      <p:sp>
        <p:nvSpPr>
          <p:cNvPr id="14" name="TextBox 15">
            <a:extLst>
              <a:ext uri="{FF2B5EF4-FFF2-40B4-BE49-F238E27FC236}">
                <a16:creationId xmlns:a16="http://schemas.microsoft.com/office/drawing/2014/main" id="{5FCE60CF-03C7-A7F4-E007-1B1A9FE8EDFF}"/>
              </a:ext>
            </a:extLst>
          </p:cNvPr>
          <p:cNvSpPr txBox="1"/>
          <p:nvPr/>
        </p:nvSpPr>
        <p:spPr>
          <a:xfrm>
            <a:off x="1676400" y="1913295"/>
            <a:ext cx="1444016" cy="461665"/>
          </a:xfrm>
          <a:prstGeom prst="rect">
            <a:avLst/>
          </a:prstGeom>
        </p:spPr>
        <p:txBody>
          <a:bodyPr lIns="0" tIns="0" rIns="0" bIns="0" rtlCol="0" anchor="t">
            <a:spAutoFit/>
          </a:bodyPr>
          <a:lstStyle/>
          <a:p>
            <a:pPr marL="0" lvl="0" indent="0" algn="just">
              <a:lnSpc>
                <a:spcPts val="3600"/>
              </a:lnSpc>
              <a:spcBef>
                <a:spcPct val="0"/>
              </a:spcBef>
            </a:pPr>
            <a:r>
              <a:rPr lang="en-US" sz="3600" dirty="0">
                <a:solidFill>
                  <a:srgbClr val="1C3F60"/>
                </a:solidFill>
                <a:latin typeface="Inter"/>
                <a:ea typeface="Inter"/>
                <a:cs typeface="Inter"/>
                <a:sym typeface="Inter"/>
              </a:rPr>
              <a:t>02</a:t>
            </a:r>
            <a:endParaRPr lang="en-US" sz="3600" u="none" strike="noStrike" dirty="0">
              <a:solidFill>
                <a:srgbClr val="1C3F60"/>
              </a:solidFill>
              <a:latin typeface="Inter"/>
              <a:ea typeface="Inter"/>
              <a:cs typeface="Inter"/>
              <a:sym typeface="Inter"/>
            </a:endParaRPr>
          </a:p>
        </p:txBody>
      </p:sp>
      <p:sp>
        <p:nvSpPr>
          <p:cNvPr id="15" name="TextBox 10">
            <a:extLst>
              <a:ext uri="{FF2B5EF4-FFF2-40B4-BE49-F238E27FC236}">
                <a16:creationId xmlns:a16="http://schemas.microsoft.com/office/drawing/2014/main" id="{5CE95692-5D4A-A79A-59CD-41101F98F60B}"/>
              </a:ext>
            </a:extLst>
          </p:cNvPr>
          <p:cNvSpPr txBox="1"/>
          <p:nvPr/>
        </p:nvSpPr>
        <p:spPr>
          <a:xfrm>
            <a:off x="1676400" y="2602097"/>
            <a:ext cx="4953000" cy="461665"/>
          </a:xfrm>
          <a:prstGeom prst="rect">
            <a:avLst/>
          </a:prstGeom>
        </p:spPr>
        <p:txBody>
          <a:bodyPr wrap="square" lIns="0" tIns="0" rIns="0" bIns="0" rtlCol="0" anchor="t">
            <a:spAutoFit/>
          </a:bodyPr>
          <a:lstStyle/>
          <a:p>
            <a:pPr algn="l">
              <a:lnSpc>
                <a:spcPts val="3599"/>
              </a:lnSpc>
            </a:pPr>
            <a:r>
              <a:rPr lang="en-US" sz="3599" b="1" dirty="0">
                <a:solidFill>
                  <a:srgbClr val="1C3F60"/>
                </a:solidFill>
                <a:latin typeface="Inter Bold"/>
                <a:ea typeface="Inter Bold"/>
                <a:cs typeface="Inter Bold"/>
                <a:sym typeface="Inter Bold"/>
              </a:rPr>
              <a:t>Community Detection</a:t>
            </a:r>
          </a:p>
        </p:txBody>
      </p:sp>
      <p:sp>
        <p:nvSpPr>
          <p:cNvPr id="16" name="TextBox 12">
            <a:extLst>
              <a:ext uri="{FF2B5EF4-FFF2-40B4-BE49-F238E27FC236}">
                <a16:creationId xmlns:a16="http://schemas.microsoft.com/office/drawing/2014/main" id="{82F22118-6353-7FE4-0363-2B218EBC0C5B}"/>
              </a:ext>
            </a:extLst>
          </p:cNvPr>
          <p:cNvSpPr txBox="1"/>
          <p:nvPr/>
        </p:nvSpPr>
        <p:spPr>
          <a:xfrm>
            <a:off x="1676400" y="3188384"/>
            <a:ext cx="5867400" cy="5716693"/>
          </a:xfrm>
          <a:prstGeom prst="rect">
            <a:avLst/>
          </a:prstGeom>
        </p:spPr>
        <p:txBody>
          <a:bodyPr wrap="square" lIns="0" tIns="0" rIns="0" bIns="0" rtlCol="0" anchor="t">
            <a:spAutoFit/>
          </a:bodyPr>
          <a:lstStyle/>
          <a:p>
            <a:pPr>
              <a:lnSpc>
                <a:spcPts val="2799"/>
              </a:lnSpc>
              <a:spcBef>
                <a:spcPct val="0"/>
              </a:spcBef>
            </a:pPr>
            <a:r>
              <a:rPr lang="en-US" sz="1999" u="none" strike="noStrike" spc="-39" dirty="0">
                <a:solidFill>
                  <a:srgbClr val="1C191A"/>
                </a:solidFill>
                <a:latin typeface="Inter"/>
                <a:ea typeface="Inter"/>
                <a:cs typeface="Inter"/>
                <a:sym typeface="Inter"/>
              </a:rPr>
              <a:t>On Gephi I applied </a:t>
            </a:r>
            <a:r>
              <a:rPr lang="en-US" sz="1999" b="1" u="none" strike="noStrike" spc="-39" dirty="0">
                <a:solidFill>
                  <a:srgbClr val="1C191A"/>
                </a:solidFill>
                <a:latin typeface="Inter"/>
                <a:ea typeface="Inter"/>
                <a:cs typeface="Inter"/>
                <a:sym typeface="Inter"/>
              </a:rPr>
              <a:t>Leiden Community </a:t>
            </a:r>
            <a:r>
              <a:rPr lang="en-US" sz="1999" u="none" strike="noStrike" spc="-39" dirty="0">
                <a:solidFill>
                  <a:srgbClr val="1C191A"/>
                </a:solidFill>
                <a:latin typeface="Inter"/>
                <a:ea typeface="Inter"/>
                <a:cs typeface="Inter"/>
                <a:sym typeface="Inter"/>
              </a:rPr>
              <a:t>Detection algorithm to identify different communities from the graph. Leiden clustering is a community detection algorithm used in network analysis. It identifies groups of nodes that are more densely connected to each other than to the rest of the network. I used </a:t>
            </a:r>
            <a:r>
              <a:rPr lang="en-US" sz="1999" u="sng" strike="noStrike" spc="-39" dirty="0">
                <a:solidFill>
                  <a:srgbClr val="1C191A"/>
                </a:solidFill>
                <a:latin typeface="Inter"/>
                <a:ea typeface="Inter"/>
                <a:cs typeface="Inter"/>
                <a:sym typeface="Inter"/>
              </a:rPr>
              <a:t>Modularity as th</a:t>
            </a:r>
            <a:r>
              <a:rPr lang="en-US" sz="1999" u="sng" spc="-39" dirty="0">
                <a:solidFill>
                  <a:srgbClr val="1C191A"/>
                </a:solidFill>
                <a:latin typeface="Inter"/>
                <a:ea typeface="Inter"/>
                <a:cs typeface="Inter"/>
                <a:sym typeface="Inter"/>
              </a:rPr>
              <a:t>e quality </a:t>
            </a:r>
            <a:r>
              <a:rPr lang="en-US" sz="1999" spc="-39" dirty="0">
                <a:solidFill>
                  <a:srgbClr val="1C191A"/>
                </a:solidFill>
                <a:latin typeface="Inter"/>
                <a:ea typeface="Inter"/>
                <a:cs typeface="Inter"/>
                <a:sym typeface="Inter"/>
              </a:rPr>
              <a:t>function and set the </a:t>
            </a:r>
            <a:r>
              <a:rPr lang="en-US" sz="1999" u="sng" spc="-39" dirty="0">
                <a:solidFill>
                  <a:srgbClr val="1C191A"/>
                </a:solidFill>
                <a:latin typeface="Inter"/>
                <a:ea typeface="Inter"/>
                <a:cs typeface="Inter"/>
                <a:sym typeface="Inter"/>
              </a:rPr>
              <a:t>resolution factor to 0.75 </a:t>
            </a:r>
            <a:r>
              <a:rPr lang="en-US" sz="1999" spc="-39" dirty="0">
                <a:solidFill>
                  <a:srgbClr val="1C191A"/>
                </a:solidFill>
                <a:latin typeface="Inter"/>
                <a:ea typeface="Inter"/>
                <a:cs typeface="Inter"/>
                <a:sym typeface="Inter"/>
              </a:rPr>
              <a:t>(trial and error method) on </a:t>
            </a:r>
            <a:r>
              <a:rPr lang="en-US" sz="1999" u="sng" spc="-39" dirty="0">
                <a:solidFill>
                  <a:srgbClr val="1C191A"/>
                </a:solidFill>
                <a:latin typeface="Inter"/>
                <a:ea typeface="Inter"/>
                <a:cs typeface="Inter"/>
                <a:sym typeface="Inter"/>
              </a:rPr>
              <a:t>100 iterations </a:t>
            </a:r>
            <a:r>
              <a:rPr lang="en-US" sz="1999" spc="-39" dirty="0">
                <a:solidFill>
                  <a:srgbClr val="1C191A"/>
                </a:solidFill>
                <a:latin typeface="Inter"/>
                <a:ea typeface="Inter"/>
                <a:cs typeface="Inter"/>
                <a:sym typeface="Inter"/>
              </a:rPr>
              <a:t>to get a quality of </a:t>
            </a:r>
            <a:r>
              <a:rPr lang="en-US" sz="1999" b="1" spc="-39" dirty="0">
                <a:solidFill>
                  <a:srgbClr val="1C191A"/>
                </a:solidFill>
                <a:latin typeface="Inter"/>
                <a:ea typeface="Inter"/>
                <a:cs typeface="Inter"/>
                <a:sym typeface="Inter"/>
              </a:rPr>
              <a:t>0.33675</a:t>
            </a:r>
            <a:r>
              <a:rPr lang="en-US" sz="1999" spc="-39" dirty="0">
                <a:solidFill>
                  <a:srgbClr val="1C191A"/>
                </a:solidFill>
                <a:latin typeface="Inter"/>
                <a:ea typeface="Inter"/>
                <a:cs typeface="Inter"/>
                <a:sym typeface="Inter"/>
              </a:rPr>
              <a:t> and </a:t>
            </a:r>
            <a:r>
              <a:rPr lang="en-US" sz="1999" b="1" spc="-39" dirty="0">
                <a:solidFill>
                  <a:srgbClr val="1C191A"/>
                </a:solidFill>
                <a:latin typeface="Inter"/>
                <a:ea typeface="Inter"/>
                <a:cs typeface="Inter"/>
                <a:sym typeface="Inter"/>
              </a:rPr>
              <a:t>5 communities</a:t>
            </a:r>
            <a:r>
              <a:rPr lang="en-US" sz="1999" spc="-39" dirty="0">
                <a:solidFill>
                  <a:srgbClr val="1C191A"/>
                </a:solidFill>
                <a:latin typeface="Inter"/>
                <a:ea typeface="Inter"/>
                <a:cs typeface="Inter"/>
                <a:sym typeface="Inter"/>
              </a:rPr>
              <a:t>. I had set the resolution in a way that will give only fewer and larger communities. Given the ratio of total nodes and number of communities it can be said that the graph is a fairly coarse division. Also, the quality value suggests that the 5 communities are dense compared to a random network. </a:t>
            </a:r>
            <a:endParaRPr lang="en-US" sz="1999" b="1" u="none" strike="noStrike" spc="-39" dirty="0">
              <a:solidFill>
                <a:srgbClr val="1C191A"/>
              </a:solidFill>
              <a:latin typeface="Inter"/>
              <a:ea typeface="Inter"/>
              <a:cs typeface="Inter"/>
              <a:sym typeface="Inter"/>
            </a:endParaRPr>
          </a:p>
        </p:txBody>
      </p:sp>
      <p:sp>
        <p:nvSpPr>
          <p:cNvPr id="17" name="TextBox 15">
            <a:extLst>
              <a:ext uri="{FF2B5EF4-FFF2-40B4-BE49-F238E27FC236}">
                <a16:creationId xmlns:a16="http://schemas.microsoft.com/office/drawing/2014/main" id="{146201DA-D8CC-8B70-445C-9DB44B9D8B09}"/>
              </a:ext>
            </a:extLst>
          </p:cNvPr>
          <p:cNvSpPr txBox="1"/>
          <p:nvPr/>
        </p:nvSpPr>
        <p:spPr>
          <a:xfrm>
            <a:off x="10566931" y="1850752"/>
            <a:ext cx="1444016" cy="461665"/>
          </a:xfrm>
          <a:prstGeom prst="rect">
            <a:avLst/>
          </a:prstGeom>
        </p:spPr>
        <p:txBody>
          <a:bodyPr lIns="0" tIns="0" rIns="0" bIns="0" rtlCol="0" anchor="t">
            <a:spAutoFit/>
          </a:bodyPr>
          <a:lstStyle/>
          <a:p>
            <a:pPr marL="0" lvl="0" indent="0" algn="just">
              <a:lnSpc>
                <a:spcPts val="3600"/>
              </a:lnSpc>
              <a:spcBef>
                <a:spcPct val="0"/>
              </a:spcBef>
            </a:pPr>
            <a:r>
              <a:rPr lang="en-US" sz="3600" dirty="0">
                <a:solidFill>
                  <a:srgbClr val="1C3F60"/>
                </a:solidFill>
                <a:latin typeface="Inter"/>
                <a:ea typeface="Inter"/>
                <a:cs typeface="Inter"/>
                <a:sym typeface="Inter"/>
              </a:rPr>
              <a:t>03</a:t>
            </a:r>
            <a:endParaRPr lang="en-US" sz="3600" u="none" strike="noStrike" dirty="0">
              <a:solidFill>
                <a:srgbClr val="1C3F60"/>
              </a:solidFill>
              <a:latin typeface="Inter"/>
              <a:ea typeface="Inter"/>
              <a:cs typeface="Inter"/>
              <a:sym typeface="Inter"/>
            </a:endParaRPr>
          </a:p>
        </p:txBody>
      </p:sp>
      <p:sp>
        <p:nvSpPr>
          <p:cNvPr id="18" name="TextBox 10">
            <a:extLst>
              <a:ext uri="{FF2B5EF4-FFF2-40B4-BE49-F238E27FC236}">
                <a16:creationId xmlns:a16="http://schemas.microsoft.com/office/drawing/2014/main" id="{62C20652-8A66-7B9E-75D8-E66544E89E36}"/>
              </a:ext>
            </a:extLst>
          </p:cNvPr>
          <p:cNvSpPr txBox="1"/>
          <p:nvPr/>
        </p:nvSpPr>
        <p:spPr>
          <a:xfrm>
            <a:off x="10566931" y="2539554"/>
            <a:ext cx="4953000" cy="461665"/>
          </a:xfrm>
          <a:prstGeom prst="rect">
            <a:avLst/>
          </a:prstGeom>
        </p:spPr>
        <p:txBody>
          <a:bodyPr wrap="square" lIns="0" tIns="0" rIns="0" bIns="0" rtlCol="0" anchor="t">
            <a:spAutoFit/>
          </a:bodyPr>
          <a:lstStyle/>
          <a:p>
            <a:pPr algn="l">
              <a:lnSpc>
                <a:spcPts val="3599"/>
              </a:lnSpc>
            </a:pPr>
            <a:r>
              <a:rPr lang="en-US" sz="3599" b="1" dirty="0">
                <a:solidFill>
                  <a:srgbClr val="1C3F60"/>
                </a:solidFill>
                <a:latin typeface="Inter Bold"/>
                <a:ea typeface="Inter Bold"/>
                <a:cs typeface="Inter Bold"/>
                <a:sym typeface="Inter Bold"/>
              </a:rPr>
              <a:t>Centrality Measure</a:t>
            </a:r>
          </a:p>
        </p:txBody>
      </p:sp>
      <p:sp>
        <p:nvSpPr>
          <p:cNvPr id="19" name="TextBox 12">
            <a:extLst>
              <a:ext uri="{FF2B5EF4-FFF2-40B4-BE49-F238E27FC236}">
                <a16:creationId xmlns:a16="http://schemas.microsoft.com/office/drawing/2014/main" id="{9F6A728F-92BB-E0E5-0614-17698F250905}"/>
              </a:ext>
            </a:extLst>
          </p:cNvPr>
          <p:cNvSpPr txBox="1"/>
          <p:nvPr/>
        </p:nvSpPr>
        <p:spPr>
          <a:xfrm>
            <a:off x="10566931" y="3125841"/>
            <a:ext cx="5867400" cy="5716693"/>
          </a:xfrm>
          <a:prstGeom prst="rect">
            <a:avLst/>
          </a:prstGeom>
        </p:spPr>
        <p:txBody>
          <a:bodyPr wrap="square" lIns="0" tIns="0" rIns="0" bIns="0" rtlCol="0" anchor="t">
            <a:spAutoFit/>
          </a:bodyPr>
          <a:lstStyle/>
          <a:p>
            <a:pPr>
              <a:lnSpc>
                <a:spcPts val="2799"/>
              </a:lnSpc>
              <a:spcBef>
                <a:spcPct val="0"/>
              </a:spcBef>
            </a:pPr>
            <a:r>
              <a:rPr lang="en-US" sz="1999" spc="-39" dirty="0">
                <a:solidFill>
                  <a:srgbClr val="1C191A"/>
                </a:solidFill>
                <a:latin typeface="Inter"/>
                <a:ea typeface="Inter"/>
                <a:cs typeface="Inter"/>
                <a:sym typeface="Inter"/>
              </a:rPr>
              <a:t>Apart from community detection I also measured the Eigen value centrality and Betweenness centrality of each word. </a:t>
            </a:r>
          </a:p>
          <a:p>
            <a:pPr>
              <a:lnSpc>
                <a:spcPts val="2799"/>
              </a:lnSpc>
              <a:spcBef>
                <a:spcPct val="0"/>
              </a:spcBef>
            </a:pPr>
            <a:r>
              <a:rPr lang="en-US" sz="1999" u="none" strike="noStrike" spc="-39" dirty="0">
                <a:solidFill>
                  <a:srgbClr val="1C191A"/>
                </a:solidFill>
                <a:latin typeface="Inter"/>
                <a:ea typeface="Inter"/>
                <a:cs typeface="Inter"/>
                <a:sym typeface="Inter"/>
              </a:rPr>
              <a:t>Eig</a:t>
            </a:r>
            <a:r>
              <a:rPr lang="en-US" sz="1999" spc="-39" dirty="0">
                <a:solidFill>
                  <a:srgbClr val="1C191A"/>
                </a:solidFill>
                <a:latin typeface="Inter"/>
                <a:ea typeface="Inter"/>
                <a:cs typeface="Inter"/>
                <a:sym typeface="Inter"/>
              </a:rPr>
              <a:t>envector Centrality measures a node's influence in a network by assigning scores based on the principle that connections to high-scoring nodes contribute more than equal connections to low-scoring nodes. </a:t>
            </a:r>
          </a:p>
          <a:p>
            <a:pPr>
              <a:lnSpc>
                <a:spcPts val="2799"/>
              </a:lnSpc>
              <a:spcBef>
                <a:spcPct val="0"/>
              </a:spcBef>
            </a:pPr>
            <a:r>
              <a:rPr lang="en-US" sz="1999" u="none" strike="noStrike" spc="-39" dirty="0">
                <a:solidFill>
                  <a:srgbClr val="1C191A"/>
                </a:solidFill>
                <a:latin typeface="Inter"/>
                <a:ea typeface="Inter"/>
                <a:cs typeface="Inter"/>
                <a:sym typeface="Inter"/>
              </a:rPr>
              <a:t>Betweenness centrality measures a node's influence in a network by quantifying how often it acts as a bridge along the shortest paths between all other node pairs.</a:t>
            </a:r>
          </a:p>
          <a:p>
            <a:pPr>
              <a:lnSpc>
                <a:spcPts val="2799"/>
              </a:lnSpc>
              <a:spcBef>
                <a:spcPct val="0"/>
              </a:spcBef>
            </a:pPr>
            <a:endParaRPr lang="en-US" sz="1999" spc="-39" dirty="0">
              <a:solidFill>
                <a:srgbClr val="1C191A"/>
              </a:solidFill>
              <a:latin typeface="Inter"/>
              <a:ea typeface="Inter"/>
              <a:cs typeface="Inter"/>
              <a:sym typeface="Inter"/>
            </a:endParaRPr>
          </a:p>
          <a:p>
            <a:pPr>
              <a:lnSpc>
                <a:spcPts val="2799"/>
              </a:lnSpc>
              <a:spcBef>
                <a:spcPct val="0"/>
              </a:spcBef>
            </a:pPr>
            <a:r>
              <a:rPr lang="en-US" sz="1999" u="none" strike="noStrike" spc="-39" dirty="0">
                <a:solidFill>
                  <a:srgbClr val="1C191A"/>
                </a:solidFill>
                <a:latin typeface="Inter"/>
                <a:ea typeface="Inter"/>
                <a:cs typeface="Inter"/>
                <a:sym typeface="Inter"/>
              </a:rPr>
              <a:t>It appeared that word ‘</a:t>
            </a:r>
            <a:r>
              <a:rPr lang="en-US" sz="1999" u="sng" strike="noStrike" spc="-39" dirty="0">
                <a:solidFill>
                  <a:srgbClr val="1C191A"/>
                </a:solidFill>
                <a:latin typeface="Inter"/>
                <a:ea typeface="Inter"/>
                <a:cs typeface="Inter"/>
                <a:sym typeface="Inter"/>
              </a:rPr>
              <a:t>attack’</a:t>
            </a:r>
            <a:r>
              <a:rPr lang="en-US" sz="1999" u="none" strike="noStrike" spc="-39" dirty="0">
                <a:solidFill>
                  <a:srgbClr val="1C191A"/>
                </a:solidFill>
                <a:latin typeface="Inter"/>
                <a:ea typeface="Inter"/>
                <a:cs typeface="Inter"/>
                <a:sym typeface="Inter"/>
              </a:rPr>
              <a:t> comes top in both the cases with Eigenvector centrality score of </a:t>
            </a:r>
            <a:r>
              <a:rPr lang="en-US" sz="1999" b="1" u="none" strike="noStrike" spc="-39" dirty="0">
                <a:solidFill>
                  <a:srgbClr val="1C191A"/>
                </a:solidFill>
                <a:latin typeface="Inter"/>
                <a:ea typeface="Inter"/>
                <a:cs typeface="Inter"/>
                <a:sym typeface="Inter"/>
              </a:rPr>
              <a:t>0.6091</a:t>
            </a:r>
            <a:r>
              <a:rPr lang="en-US" sz="1999" u="none" strike="noStrike" spc="-39" dirty="0">
                <a:solidFill>
                  <a:srgbClr val="1C191A"/>
                </a:solidFill>
                <a:latin typeface="Inter"/>
                <a:ea typeface="Inter"/>
                <a:cs typeface="Inter"/>
                <a:sym typeface="Inter"/>
              </a:rPr>
              <a:t> and Betweenness centrality score of </a:t>
            </a:r>
            <a:r>
              <a:rPr lang="en-US" sz="1999" b="1" u="none" strike="noStrike" spc="-39" dirty="0">
                <a:solidFill>
                  <a:srgbClr val="1C191A"/>
                </a:solidFill>
                <a:latin typeface="Inter"/>
                <a:ea typeface="Inter"/>
                <a:cs typeface="Inter"/>
                <a:sym typeface="Inter"/>
              </a:rPr>
              <a:t>0.5360</a:t>
            </a:r>
            <a:r>
              <a:rPr lang="en-US" sz="1999" u="none" strike="noStrike" spc="-39" dirty="0">
                <a:solidFill>
                  <a:srgbClr val="1C191A"/>
                </a:solidFill>
                <a:latin typeface="Inter"/>
                <a:ea typeface="Inter"/>
                <a:cs typeface="Inter"/>
                <a:sym typeface="Inter"/>
              </a:rPr>
              <a:t>.</a:t>
            </a:r>
          </a:p>
        </p:txBody>
      </p:sp>
    </p:spTree>
    <p:extLst>
      <p:ext uri="{BB962C8B-B14F-4D97-AF65-F5344CB8AC3E}">
        <p14:creationId xmlns:p14="http://schemas.microsoft.com/office/powerpoint/2010/main" val="1033207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4FFB2C1-7075-BEA8-2813-AE795AA0273D}"/>
              </a:ext>
            </a:extLst>
          </p:cNvPr>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sp>
        <p:nvSpPr>
          <p:cNvPr id="3" name="AutoShape 7">
            <a:extLst>
              <a:ext uri="{FF2B5EF4-FFF2-40B4-BE49-F238E27FC236}">
                <a16:creationId xmlns:a16="http://schemas.microsoft.com/office/drawing/2014/main" id="{F723399D-BF0D-AFA3-BACE-56059A2CF6C6}"/>
              </a:ext>
            </a:extLst>
          </p:cNvPr>
          <p:cNvSpPr/>
          <p:nvPr/>
        </p:nvSpPr>
        <p:spPr>
          <a:xfrm>
            <a:off x="11125200" y="723893"/>
            <a:ext cx="6737158" cy="0"/>
          </a:xfrm>
          <a:prstGeom prst="line">
            <a:avLst/>
          </a:prstGeom>
          <a:ln w="19050" cap="flat">
            <a:solidFill>
              <a:srgbClr val="345C72">
                <a:alpha val="60000"/>
              </a:srgbClr>
            </a:solidFill>
            <a:prstDash val="solid"/>
            <a:headEnd type="none" w="sm" len="sm"/>
            <a:tailEnd type="none" w="sm" len="sm"/>
          </a:ln>
        </p:spPr>
        <p:txBody>
          <a:bodyPr/>
          <a:lstStyle/>
          <a:p>
            <a:endParaRPr lang="en-US" dirty="0"/>
          </a:p>
        </p:txBody>
      </p:sp>
      <p:sp>
        <p:nvSpPr>
          <p:cNvPr id="4" name="AutoShape 8">
            <a:extLst>
              <a:ext uri="{FF2B5EF4-FFF2-40B4-BE49-F238E27FC236}">
                <a16:creationId xmlns:a16="http://schemas.microsoft.com/office/drawing/2014/main" id="{C5292577-46BB-EBC1-46CE-5BF647AE4E88}"/>
              </a:ext>
            </a:extLst>
          </p:cNvPr>
          <p:cNvSpPr/>
          <p:nvPr/>
        </p:nvSpPr>
        <p:spPr>
          <a:xfrm>
            <a:off x="11125200" y="9563093"/>
            <a:ext cx="6737158" cy="0"/>
          </a:xfrm>
          <a:prstGeom prst="line">
            <a:avLst/>
          </a:prstGeom>
          <a:ln w="19050" cap="flat">
            <a:solidFill>
              <a:srgbClr val="345C72">
                <a:alpha val="60000"/>
              </a:srgbClr>
            </a:solidFill>
            <a:prstDash val="solid"/>
            <a:headEnd type="none" w="sm" len="sm"/>
            <a:tailEnd type="none" w="sm" len="sm"/>
          </a:ln>
        </p:spPr>
      </p:sp>
      <p:grpSp>
        <p:nvGrpSpPr>
          <p:cNvPr id="5" name="Group 4">
            <a:extLst>
              <a:ext uri="{FF2B5EF4-FFF2-40B4-BE49-F238E27FC236}">
                <a16:creationId xmlns:a16="http://schemas.microsoft.com/office/drawing/2014/main" id="{C0401E17-1E6F-3393-5E6F-7EF07E84EB48}"/>
              </a:ext>
            </a:extLst>
          </p:cNvPr>
          <p:cNvGrpSpPr/>
          <p:nvPr/>
        </p:nvGrpSpPr>
        <p:grpSpPr>
          <a:xfrm>
            <a:off x="11125200" y="1350882"/>
            <a:ext cx="6611404" cy="7585233"/>
            <a:chOff x="0" y="0"/>
            <a:chExt cx="1302216" cy="1383098"/>
          </a:xfrm>
        </p:grpSpPr>
        <p:sp>
          <p:nvSpPr>
            <p:cNvPr id="6" name="Freeform 5">
              <a:extLst>
                <a:ext uri="{FF2B5EF4-FFF2-40B4-BE49-F238E27FC236}">
                  <a16:creationId xmlns:a16="http://schemas.microsoft.com/office/drawing/2014/main" id="{835BF872-BF76-C3B8-E39C-C0ABC2347A6F}"/>
                </a:ext>
              </a:extLst>
            </p:cNvPr>
            <p:cNvSpPr/>
            <p:nvPr/>
          </p:nvSpPr>
          <p:spPr>
            <a:xfrm>
              <a:off x="0" y="0"/>
              <a:ext cx="1302216" cy="1383098"/>
            </a:xfrm>
            <a:custGeom>
              <a:avLst/>
              <a:gdLst/>
              <a:ahLst/>
              <a:cxnLst/>
              <a:rect l="l" t="t" r="r" b="b"/>
              <a:pathLst>
                <a:path w="1302216" h="1383098">
                  <a:moveTo>
                    <a:pt x="0" y="0"/>
                  </a:moveTo>
                  <a:lnTo>
                    <a:pt x="1302216" y="0"/>
                  </a:lnTo>
                  <a:lnTo>
                    <a:pt x="1302216" y="1383098"/>
                  </a:lnTo>
                  <a:lnTo>
                    <a:pt x="0" y="1383098"/>
                  </a:lnTo>
                  <a:close/>
                </a:path>
              </a:pathLst>
            </a:custGeom>
            <a:solidFill>
              <a:srgbClr val="F6F4F1"/>
            </a:solidFill>
            <a:ln w="57150" cap="sq">
              <a:solidFill>
                <a:srgbClr val="CDDADE"/>
              </a:solidFill>
              <a:prstDash val="solid"/>
              <a:miter/>
            </a:ln>
          </p:spPr>
        </p:sp>
        <p:sp>
          <p:nvSpPr>
            <p:cNvPr id="7" name="TextBox 6">
              <a:extLst>
                <a:ext uri="{FF2B5EF4-FFF2-40B4-BE49-F238E27FC236}">
                  <a16:creationId xmlns:a16="http://schemas.microsoft.com/office/drawing/2014/main" id="{6FE9181F-DEE7-2F78-5624-FF926339069E}"/>
                </a:ext>
              </a:extLst>
            </p:cNvPr>
            <p:cNvSpPr txBox="1"/>
            <p:nvPr/>
          </p:nvSpPr>
          <p:spPr>
            <a:xfrm>
              <a:off x="0" y="-38100"/>
              <a:ext cx="1302216" cy="1421198"/>
            </a:xfrm>
            <a:prstGeom prst="rect">
              <a:avLst/>
            </a:prstGeom>
          </p:spPr>
          <p:txBody>
            <a:bodyPr lIns="50800" tIns="50800" rIns="50800" bIns="50800" rtlCol="0" anchor="ctr"/>
            <a:lstStyle/>
            <a:p>
              <a:pPr marL="0" lvl="0" indent="0" algn="ctr">
                <a:lnSpc>
                  <a:spcPts val="2799"/>
                </a:lnSpc>
                <a:spcBef>
                  <a:spcPct val="0"/>
                </a:spcBef>
              </a:pPr>
              <a:endParaRPr/>
            </a:p>
          </p:txBody>
        </p:sp>
      </p:grpSp>
      <p:pic>
        <p:nvPicPr>
          <p:cNvPr id="9" name="Picture 8">
            <a:extLst>
              <a:ext uri="{FF2B5EF4-FFF2-40B4-BE49-F238E27FC236}">
                <a16:creationId xmlns:a16="http://schemas.microsoft.com/office/drawing/2014/main" id="{D021661F-CE14-8EA0-71BC-EA66193F58B1}"/>
              </a:ext>
            </a:extLst>
          </p:cNvPr>
          <p:cNvPicPr>
            <a:picLocks noChangeAspect="1"/>
          </p:cNvPicPr>
          <p:nvPr/>
        </p:nvPicPr>
        <p:blipFill>
          <a:blip r:embed="rId3"/>
          <a:stretch>
            <a:fillRect/>
          </a:stretch>
        </p:blipFill>
        <p:spPr>
          <a:xfrm>
            <a:off x="638873" y="1276951"/>
            <a:ext cx="10100137" cy="6000149"/>
          </a:xfrm>
          <a:prstGeom prst="rect">
            <a:avLst/>
          </a:prstGeom>
        </p:spPr>
      </p:pic>
      <p:sp>
        <p:nvSpPr>
          <p:cNvPr id="10" name="TextBox 15">
            <a:extLst>
              <a:ext uri="{FF2B5EF4-FFF2-40B4-BE49-F238E27FC236}">
                <a16:creationId xmlns:a16="http://schemas.microsoft.com/office/drawing/2014/main" id="{05BEEFAD-D232-DA7F-7D94-992C483F50BE}"/>
              </a:ext>
            </a:extLst>
          </p:cNvPr>
          <p:cNvSpPr txBox="1"/>
          <p:nvPr/>
        </p:nvSpPr>
        <p:spPr>
          <a:xfrm>
            <a:off x="11436927" y="2232743"/>
            <a:ext cx="1444016" cy="461665"/>
          </a:xfrm>
          <a:prstGeom prst="rect">
            <a:avLst/>
          </a:prstGeom>
        </p:spPr>
        <p:txBody>
          <a:bodyPr lIns="0" tIns="0" rIns="0" bIns="0" rtlCol="0" anchor="t">
            <a:spAutoFit/>
          </a:bodyPr>
          <a:lstStyle/>
          <a:p>
            <a:pPr marL="0" lvl="0" indent="0" algn="just">
              <a:lnSpc>
                <a:spcPts val="3600"/>
              </a:lnSpc>
              <a:spcBef>
                <a:spcPct val="0"/>
              </a:spcBef>
            </a:pPr>
            <a:r>
              <a:rPr lang="en-US" sz="3600" dirty="0">
                <a:solidFill>
                  <a:srgbClr val="1C3F60"/>
                </a:solidFill>
                <a:latin typeface="Inter"/>
                <a:ea typeface="Inter"/>
                <a:cs typeface="Inter"/>
                <a:sym typeface="Inter"/>
              </a:rPr>
              <a:t>04</a:t>
            </a:r>
            <a:endParaRPr lang="en-US" sz="3600" u="none" strike="noStrike" dirty="0">
              <a:solidFill>
                <a:srgbClr val="1C3F60"/>
              </a:solidFill>
              <a:latin typeface="Inter"/>
              <a:ea typeface="Inter"/>
              <a:cs typeface="Inter"/>
              <a:sym typeface="Inter"/>
            </a:endParaRPr>
          </a:p>
        </p:txBody>
      </p:sp>
      <p:sp>
        <p:nvSpPr>
          <p:cNvPr id="11" name="TextBox 10">
            <a:extLst>
              <a:ext uri="{FF2B5EF4-FFF2-40B4-BE49-F238E27FC236}">
                <a16:creationId xmlns:a16="http://schemas.microsoft.com/office/drawing/2014/main" id="{9D8C3CFC-1505-97E3-1AD6-D3A072CAFE79}"/>
              </a:ext>
            </a:extLst>
          </p:cNvPr>
          <p:cNvSpPr txBox="1"/>
          <p:nvPr/>
        </p:nvSpPr>
        <p:spPr>
          <a:xfrm>
            <a:off x="11436927" y="2921545"/>
            <a:ext cx="6165273" cy="461665"/>
          </a:xfrm>
          <a:prstGeom prst="rect">
            <a:avLst/>
          </a:prstGeom>
        </p:spPr>
        <p:txBody>
          <a:bodyPr wrap="square" lIns="0" tIns="0" rIns="0" bIns="0" rtlCol="0" anchor="t">
            <a:spAutoFit/>
          </a:bodyPr>
          <a:lstStyle/>
          <a:p>
            <a:pPr algn="l">
              <a:lnSpc>
                <a:spcPts val="3599"/>
              </a:lnSpc>
            </a:pPr>
            <a:r>
              <a:rPr lang="en-US" sz="3599" b="1" dirty="0">
                <a:solidFill>
                  <a:srgbClr val="1C3F60"/>
                </a:solidFill>
                <a:latin typeface="Inter Bold"/>
                <a:ea typeface="Inter Bold"/>
                <a:cs typeface="Inter Bold"/>
                <a:sym typeface="Inter Bold"/>
              </a:rPr>
              <a:t>Clustering on Word Vectors</a:t>
            </a:r>
          </a:p>
        </p:txBody>
      </p:sp>
      <p:sp>
        <p:nvSpPr>
          <p:cNvPr id="12" name="TextBox 12">
            <a:extLst>
              <a:ext uri="{FF2B5EF4-FFF2-40B4-BE49-F238E27FC236}">
                <a16:creationId xmlns:a16="http://schemas.microsoft.com/office/drawing/2014/main" id="{697B28E8-27CA-9394-B3C6-C5A59367AD2A}"/>
              </a:ext>
            </a:extLst>
          </p:cNvPr>
          <p:cNvSpPr txBox="1"/>
          <p:nvPr/>
        </p:nvSpPr>
        <p:spPr>
          <a:xfrm>
            <a:off x="11436927" y="3739204"/>
            <a:ext cx="5860473" cy="4639475"/>
          </a:xfrm>
          <a:prstGeom prst="rect">
            <a:avLst/>
          </a:prstGeom>
        </p:spPr>
        <p:txBody>
          <a:bodyPr wrap="square" lIns="0" tIns="0" rIns="0" bIns="0" rtlCol="0" anchor="t">
            <a:spAutoFit/>
          </a:bodyPr>
          <a:lstStyle/>
          <a:p>
            <a:pPr>
              <a:lnSpc>
                <a:spcPts val="2799"/>
              </a:lnSpc>
              <a:spcBef>
                <a:spcPct val="0"/>
              </a:spcBef>
            </a:pPr>
            <a:r>
              <a:rPr lang="en-US" sz="1999" u="none" strike="noStrike" spc="-39" dirty="0">
                <a:solidFill>
                  <a:srgbClr val="1C191A"/>
                </a:solidFill>
                <a:latin typeface="Inter"/>
                <a:ea typeface="Inter"/>
                <a:cs typeface="Inter"/>
                <a:sym typeface="Inter"/>
              </a:rPr>
              <a:t>After pre-processing total 4784 words were put in the embedding space. The Silhouette score and Davies-Boulding index, both suggested that the ideal number of clusters in this task will be 3 or 4. I decided to take 3 as the value of K in Clustering. The cluster sizes are – 1057, 3615 and 111 respectively. The size of clusters describe the high imbalance of data distribution which is practical in the contex</a:t>
            </a:r>
            <a:r>
              <a:rPr lang="en-US" sz="1999" spc="-39" dirty="0">
                <a:solidFill>
                  <a:srgbClr val="1C191A"/>
                </a:solidFill>
                <a:latin typeface="Inter"/>
                <a:ea typeface="Inter"/>
                <a:cs typeface="Inter"/>
                <a:sym typeface="Inter"/>
              </a:rPr>
              <a:t>t of this task as its real-world social media data which contains different spectrum of words and also significant amount of noise. </a:t>
            </a:r>
          </a:p>
          <a:p>
            <a:pPr>
              <a:lnSpc>
                <a:spcPts val="2799"/>
              </a:lnSpc>
              <a:spcBef>
                <a:spcPct val="0"/>
              </a:spcBef>
            </a:pPr>
            <a:endParaRPr lang="en-US" sz="1999" u="none" strike="noStrike" spc="-39" dirty="0">
              <a:solidFill>
                <a:srgbClr val="1C191A"/>
              </a:solidFill>
              <a:latin typeface="Inter"/>
              <a:ea typeface="Inter"/>
              <a:cs typeface="Inter"/>
              <a:sym typeface="Inter"/>
            </a:endParaRPr>
          </a:p>
          <a:p>
            <a:pPr>
              <a:lnSpc>
                <a:spcPts val="2799"/>
              </a:lnSpc>
              <a:spcBef>
                <a:spcPct val="0"/>
              </a:spcBef>
            </a:pPr>
            <a:r>
              <a:rPr lang="en-US" sz="1999" spc="-39" dirty="0">
                <a:solidFill>
                  <a:srgbClr val="1C191A"/>
                </a:solidFill>
                <a:latin typeface="Inter"/>
                <a:ea typeface="Inter"/>
                <a:cs typeface="Inter"/>
                <a:sym typeface="Inter"/>
              </a:rPr>
              <a:t>Figure 3 depicts the diagram of the clustering. </a:t>
            </a:r>
            <a:endParaRPr lang="en-US" sz="1999" u="none" strike="noStrike" spc="-39" dirty="0">
              <a:solidFill>
                <a:srgbClr val="1C191A"/>
              </a:solidFill>
              <a:latin typeface="Inter"/>
              <a:ea typeface="Inter"/>
              <a:cs typeface="Inter"/>
              <a:sym typeface="Inter"/>
            </a:endParaRPr>
          </a:p>
        </p:txBody>
      </p:sp>
      <p:sp>
        <p:nvSpPr>
          <p:cNvPr id="13" name="TextBox 12">
            <a:extLst>
              <a:ext uri="{FF2B5EF4-FFF2-40B4-BE49-F238E27FC236}">
                <a16:creationId xmlns:a16="http://schemas.microsoft.com/office/drawing/2014/main" id="{59E27255-08CA-6007-9849-EE75FE1C138C}"/>
              </a:ext>
            </a:extLst>
          </p:cNvPr>
          <p:cNvSpPr txBox="1"/>
          <p:nvPr/>
        </p:nvSpPr>
        <p:spPr>
          <a:xfrm>
            <a:off x="2438400" y="7429500"/>
            <a:ext cx="6400800" cy="369332"/>
          </a:xfrm>
          <a:prstGeom prst="rect">
            <a:avLst/>
          </a:prstGeom>
          <a:noFill/>
        </p:spPr>
        <p:txBody>
          <a:bodyPr wrap="square" rtlCol="0">
            <a:spAutoFit/>
          </a:bodyPr>
          <a:lstStyle/>
          <a:p>
            <a:pPr algn="ctr"/>
            <a:r>
              <a:rPr lang="en-US" b="1" dirty="0"/>
              <a:t>Fig 3: Cluster diagram</a:t>
            </a:r>
          </a:p>
        </p:txBody>
      </p:sp>
    </p:spTree>
    <p:extLst>
      <p:ext uri="{BB962C8B-B14F-4D97-AF65-F5344CB8AC3E}">
        <p14:creationId xmlns:p14="http://schemas.microsoft.com/office/powerpoint/2010/main" val="19168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sp>
        <p:nvSpPr>
          <p:cNvPr id="3" name="TextBox 3"/>
          <p:cNvSpPr txBox="1"/>
          <p:nvPr/>
        </p:nvSpPr>
        <p:spPr>
          <a:xfrm>
            <a:off x="1309026" y="2653665"/>
            <a:ext cx="9828825" cy="4879093"/>
          </a:xfrm>
          <a:prstGeom prst="rect">
            <a:avLst/>
          </a:prstGeom>
        </p:spPr>
        <p:txBody>
          <a:bodyPr lIns="0" tIns="0" rIns="0" bIns="0" rtlCol="0" anchor="t">
            <a:spAutoFit/>
          </a:bodyPr>
          <a:lstStyle/>
          <a:p>
            <a:pPr algn="l">
              <a:lnSpc>
                <a:spcPts val="12960"/>
              </a:lnSpc>
            </a:pPr>
            <a:r>
              <a:rPr lang="en-US" sz="9600" dirty="0">
                <a:solidFill>
                  <a:srgbClr val="1C3F60"/>
                </a:solidFill>
                <a:latin typeface="Inter"/>
                <a:ea typeface="Inter"/>
                <a:cs typeface="Inter"/>
                <a:sym typeface="Inter"/>
              </a:rPr>
              <a:t>Move forward.</a:t>
            </a:r>
          </a:p>
          <a:p>
            <a:pPr algn="l">
              <a:lnSpc>
                <a:spcPts val="12960"/>
              </a:lnSpc>
            </a:pPr>
            <a:r>
              <a:rPr lang="en-US" sz="9600" dirty="0">
                <a:solidFill>
                  <a:srgbClr val="1C3F60"/>
                </a:solidFill>
                <a:latin typeface="Inter"/>
                <a:ea typeface="Inter"/>
                <a:cs typeface="Inter"/>
                <a:sym typeface="Inter"/>
              </a:rPr>
              <a:t>Future Ideas ahead</a:t>
            </a:r>
          </a:p>
        </p:txBody>
      </p:sp>
      <p:grpSp>
        <p:nvGrpSpPr>
          <p:cNvPr id="4" name="Group 4"/>
          <p:cNvGrpSpPr/>
          <p:nvPr/>
        </p:nvGrpSpPr>
        <p:grpSpPr>
          <a:xfrm>
            <a:off x="11507716" y="-297637"/>
            <a:ext cx="7040716" cy="10752058"/>
            <a:chOff x="0" y="0"/>
            <a:chExt cx="1090791" cy="1665775"/>
          </a:xfrm>
        </p:grpSpPr>
        <p:sp>
          <p:nvSpPr>
            <p:cNvPr id="5" name="Freeform 5"/>
            <p:cNvSpPr/>
            <p:nvPr/>
          </p:nvSpPr>
          <p:spPr>
            <a:xfrm>
              <a:off x="0" y="0"/>
              <a:ext cx="1090791" cy="1665775"/>
            </a:xfrm>
            <a:custGeom>
              <a:avLst/>
              <a:gdLst/>
              <a:ahLst/>
              <a:cxnLst/>
              <a:rect l="l" t="t" r="r" b="b"/>
              <a:pathLst>
                <a:path w="1090791" h="1665775">
                  <a:moveTo>
                    <a:pt x="0" y="0"/>
                  </a:moveTo>
                  <a:lnTo>
                    <a:pt x="1090791" y="0"/>
                  </a:lnTo>
                  <a:lnTo>
                    <a:pt x="1090791" y="1665775"/>
                  </a:lnTo>
                  <a:lnTo>
                    <a:pt x="0" y="1665775"/>
                  </a:lnTo>
                  <a:close/>
                </a:path>
              </a:pathLst>
            </a:custGeom>
            <a:blipFill>
              <a:blip r:embed="rId3"/>
              <a:stretch>
                <a:fillRect l="-26634" r="-26634"/>
              </a:stretch>
            </a:blipFill>
          </p:spPr>
        </p:sp>
      </p:grpSp>
      <p:sp>
        <p:nvSpPr>
          <p:cNvPr id="6" name="AutoShape 6"/>
          <p:cNvSpPr/>
          <p:nvPr/>
        </p:nvSpPr>
        <p:spPr>
          <a:xfrm flipV="1">
            <a:off x="1309026" y="4287346"/>
            <a:ext cx="3191127" cy="0"/>
          </a:xfrm>
          <a:prstGeom prst="line">
            <a:avLst/>
          </a:prstGeom>
          <a:ln w="38100" cap="flat">
            <a:solidFill>
              <a:srgbClr val="345C72">
                <a:alpha val="60000"/>
              </a:srgbClr>
            </a:solidFill>
            <a:prstDash val="solid"/>
            <a:headEnd type="none" w="sm" len="sm"/>
            <a:tailEnd type="none" w="sm" len="sm"/>
          </a:ln>
        </p:spPr>
      </p:sp>
      <p:sp>
        <p:nvSpPr>
          <p:cNvPr id="7" name="AutoShape 7"/>
          <p:cNvSpPr/>
          <p:nvPr/>
        </p:nvSpPr>
        <p:spPr>
          <a:xfrm flipV="1">
            <a:off x="1309026" y="7787334"/>
            <a:ext cx="5272666" cy="0"/>
          </a:xfrm>
          <a:prstGeom prst="line">
            <a:avLst/>
          </a:prstGeom>
          <a:ln w="38100" cap="flat">
            <a:solidFill>
              <a:srgbClr val="345C72">
                <a:alpha val="60000"/>
              </a:srgbClr>
            </a:solidFill>
            <a:prstDash val="solid"/>
            <a:headEnd type="none" w="sm" len="sm"/>
            <a:tailEnd type="none" w="sm" len="sm"/>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6F809E2D-09F5-B3F4-F8ED-B1E181B85D2D}"/>
              </a:ext>
            </a:extLst>
          </p:cNvPr>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sp>
        <p:nvSpPr>
          <p:cNvPr id="3" name="TextBox 2">
            <a:extLst>
              <a:ext uri="{FF2B5EF4-FFF2-40B4-BE49-F238E27FC236}">
                <a16:creationId xmlns:a16="http://schemas.microsoft.com/office/drawing/2014/main" id="{0EBA76D5-26A8-608D-F526-0305594A3635}"/>
              </a:ext>
            </a:extLst>
          </p:cNvPr>
          <p:cNvSpPr txBox="1"/>
          <p:nvPr/>
        </p:nvSpPr>
        <p:spPr>
          <a:xfrm>
            <a:off x="990600" y="495300"/>
            <a:ext cx="16535400" cy="6247864"/>
          </a:xfrm>
          <a:prstGeom prst="rect">
            <a:avLst/>
          </a:prstGeom>
          <a:solidFill>
            <a:schemeClr val="bg1"/>
          </a:solidFill>
        </p:spPr>
        <p:txBody>
          <a:bodyPr wrap="square" rtlCol="0">
            <a:spAutoFit/>
          </a:bodyPr>
          <a:lstStyle/>
          <a:p>
            <a:r>
              <a:rPr lang="en-US" sz="2000" dirty="0"/>
              <a:t>After going through the experiments, I have the Word-cooccurrence Network. There are 5 communities in which the nodes of the network is divided. On the other hand, Clustering was performed on the reduced vectors of words that produced 3 clusters. </a:t>
            </a:r>
          </a:p>
          <a:p>
            <a:endParaRPr lang="en-US" sz="2000" dirty="0"/>
          </a:p>
          <a:p>
            <a:endParaRPr lang="en-US" sz="2000" dirty="0"/>
          </a:p>
          <a:p>
            <a:endParaRPr lang="en-US" sz="2000" dirty="0"/>
          </a:p>
          <a:p>
            <a:r>
              <a:rPr lang="en-US" sz="2000" dirty="0"/>
              <a:t>The primary idea ahead is to identify the entities from the network and define some stance vocabularies in support of war or violence and against that. The entities here are mainly names of persons or organizations. Now these two groups will be employed to understand the stance of each entity. Network-based scoring will be done. The shortest path from an entity to a pro-war word will be calculated. The same will be done for anti-war word also. Finally, the stance will be calculated by calculating their difference. </a:t>
            </a:r>
          </a:p>
          <a:p>
            <a:endParaRPr lang="en-US" sz="2000" dirty="0"/>
          </a:p>
          <a:p>
            <a:endParaRPr lang="en-US" sz="2000" dirty="0"/>
          </a:p>
          <a:p>
            <a:r>
              <a:rPr lang="en-US" sz="2000" dirty="0"/>
              <a:t>Another approach is to identify pro-war and anti-war communities from the detected communities. Then calculate the density of each community and also applying clustering on them. The idea behind this approach is to understand whether same support groups will have similar vocabularies. </a:t>
            </a:r>
          </a:p>
          <a:p>
            <a:endParaRPr lang="en-US" sz="2000" dirty="0"/>
          </a:p>
          <a:p>
            <a:endParaRPr lang="en-US" sz="2000" dirty="0"/>
          </a:p>
          <a:p>
            <a:endParaRPr lang="en-US" sz="2000" dirty="0"/>
          </a:p>
          <a:p>
            <a:endParaRPr lang="en-US" sz="2000" dirty="0"/>
          </a:p>
          <a:p>
            <a:r>
              <a:rPr lang="en-US" sz="2000" dirty="0"/>
              <a:t>A third approach is to analyze the clusters of the word vectors and identify any patterns in the clusters. If found, these patterns could lead to insightful discoveries in future. </a:t>
            </a:r>
          </a:p>
          <a:p>
            <a:endParaRPr lang="en-US" sz="2000" dirty="0"/>
          </a:p>
        </p:txBody>
      </p:sp>
      <p:sp>
        <p:nvSpPr>
          <p:cNvPr id="7" name="Oval 6">
            <a:extLst>
              <a:ext uri="{FF2B5EF4-FFF2-40B4-BE49-F238E27FC236}">
                <a16:creationId xmlns:a16="http://schemas.microsoft.com/office/drawing/2014/main" id="{34623A96-57D8-86E1-BCFB-279E3B9C4C0E}"/>
              </a:ext>
            </a:extLst>
          </p:cNvPr>
          <p:cNvSpPr/>
          <p:nvPr/>
        </p:nvSpPr>
        <p:spPr>
          <a:xfrm>
            <a:off x="1219200" y="1257300"/>
            <a:ext cx="1143000" cy="688265"/>
          </a:xfrm>
          <a:prstGeom prst="ellipse">
            <a:avLst/>
          </a:prstGeom>
          <a:solidFill>
            <a:schemeClr val="tx2">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3600" dirty="0">
                <a:latin typeface="Inter" panose="020B0604020202020204" charset="0"/>
                <a:ea typeface="Inter" panose="020B0604020202020204" charset="0"/>
              </a:rPr>
              <a:t>01</a:t>
            </a:r>
          </a:p>
        </p:txBody>
      </p:sp>
      <p:sp>
        <p:nvSpPr>
          <p:cNvPr id="9" name="Oval 8">
            <a:extLst>
              <a:ext uri="{FF2B5EF4-FFF2-40B4-BE49-F238E27FC236}">
                <a16:creationId xmlns:a16="http://schemas.microsoft.com/office/drawing/2014/main" id="{22457D0E-30C3-1B01-C948-56531D4BE40C}"/>
              </a:ext>
            </a:extLst>
          </p:cNvPr>
          <p:cNvSpPr/>
          <p:nvPr/>
        </p:nvSpPr>
        <p:spPr>
          <a:xfrm>
            <a:off x="14859000" y="3162300"/>
            <a:ext cx="1143000" cy="688265"/>
          </a:xfrm>
          <a:prstGeom prst="ellipse">
            <a:avLst/>
          </a:prstGeom>
          <a:solidFill>
            <a:schemeClr val="tx2">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3600" dirty="0">
                <a:latin typeface="Inter" panose="020B0604020202020204" charset="0"/>
                <a:ea typeface="Inter" panose="020B0604020202020204" charset="0"/>
              </a:rPr>
              <a:t>02</a:t>
            </a:r>
          </a:p>
        </p:txBody>
      </p:sp>
      <p:sp>
        <p:nvSpPr>
          <p:cNvPr id="10" name="Oval 9">
            <a:extLst>
              <a:ext uri="{FF2B5EF4-FFF2-40B4-BE49-F238E27FC236}">
                <a16:creationId xmlns:a16="http://schemas.microsoft.com/office/drawing/2014/main" id="{F94CB2C3-3087-8004-FAF0-C34D2584FCBE}"/>
              </a:ext>
            </a:extLst>
          </p:cNvPr>
          <p:cNvSpPr/>
          <p:nvPr/>
        </p:nvSpPr>
        <p:spPr>
          <a:xfrm>
            <a:off x="1210733" y="4799366"/>
            <a:ext cx="1143000" cy="688265"/>
          </a:xfrm>
          <a:prstGeom prst="ellipse">
            <a:avLst/>
          </a:prstGeom>
          <a:solidFill>
            <a:schemeClr val="tx2">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3600" dirty="0">
                <a:latin typeface="Inter" panose="020B0604020202020204" charset="0"/>
                <a:ea typeface="Inter" panose="020B0604020202020204" charset="0"/>
              </a:rPr>
              <a:t>03</a:t>
            </a:r>
          </a:p>
        </p:txBody>
      </p:sp>
    </p:spTree>
    <p:extLst>
      <p:ext uri="{BB962C8B-B14F-4D97-AF65-F5344CB8AC3E}">
        <p14:creationId xmlns:p14="http://schemas.microsoft.com/office/powerpoint/2010/main" val="1332725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txBody>
          <a:bodyPr/>
          <a:lstStyle/>
          <a:p>
            <a:endParaRPr lang="en-US" dirty="0"/>
          </a:p>
        </p:txBody>
      </p:sp>
      <p:sp>
        <p:nvSpPr>
          <p:cNvPr id="3" name="TextBox 3"/>
          <p:cNvSpPr txBox="1"/>
          <p:nvPr/>
        </p:nvSpPr>
        <p:spPr>
          <a:xfrm>
            <a:off x="1302355" y="8548993"/>
            <a:ext cx="8457083" cy="293370"/>
          </a:xfrm>
          <a:prstGeom prst="rect">
            <a:avLst/>
          </a:prstGeom>
        </p:spPr>
        <p:txBody>
          <a:bodyPr lIns="0" tIns="0" rIns="0" bIns="0" rtlCol="0" anchor="t">
            <a:spAutoFit/>
          </a:bodyPr>
          <a:lstStyle/>
          <a:p>
            <a:pPr algn="just">
              <a:lnSpc>
                <a:spcPts val="2310"/>
              </a:lnSpc>
            </a:pPr>
            <a:r>
              <a:rPr lang="en-US" sz="2100" dirty="0">
                <a:solidFill>
                  <a:srgbClr val="0B1320"/>
                </a:solidFill>
                <a:latin typeface="Inter"/>
                <a:ea typeface="Inter"/>
                <a:cs typeface="Inter"/>
                <a:sym typeface="Inter"/>
              </a:rPr>
              <a:t>Presented by </a:t>
            </a:r>
            <a:r>
              <a:rPr lang="en-US" sz="2100" b="1" dirty="0">
                <a:solidFill>
                  <a:srgbClr val="0B1320"/>
                </a:solidFill>
                <a:latin typeface="Inter"/>
                <a:ea typeface="Inter"/>
                <a:cs typeface="Inter"/>
                <a:sym typeface="Inter"/>
              </a:rPr>
              <a:t>Bitan Majumder</a:t>
            </a:r>
          </a:p>
        </p:txBody>
      </p:sp>
      <p:sp>
        <p:nvSpPr>
          <p:cNvPr id="4" name="TextBox 4"/>
          <p:cNvSpPr txBox="1"/>
          <p:nvPr/>
        </p:nvSpPr>
        <p:spPr>
          <a:xfrm>
            <a:off x="12102644" y="8861413"/>
            <a:ext cx="4883001" cy="293370"/>
          </a:xfrm>
          <a:prstGeom prst="rect">
            <a:avLst/>
          </a:prstGeom>
        </p:spPr>
        <p:txBody>
          <a:bodyPr lIns="0" tIns="0" rIns="0" bIns="0" rtlCol="0" anchor="t">
            <a:spAutoFit/>
          </a:bodyPr>
          <a:lstStyle/>
          <a:p>
            <a:pPr algn="r">
              <a:lnSpc>
                <a:spcPts val="2310"/>
              </a:lnSpc>
            </a:pPr>
            <a:r>
              <a:rPr lang="en-US" sz="2100" dirty="0">
                <a:solidFill>
                  <a:srgbClr val="0B1320"/>
                </a:solidFill>
                <a:latin typeface="Inter"/>
                <a:ea typeface="Inter"/>
                <a:cs typeface="Inter"/>
                <a:sym typeface="Inter"/>
              </a:rPr>
              <a:t>23 February 2026</a:t>
            </a:r>
          </a:p>
        </p:txBody>
      </p:sp>
      <p:sp>
        <p:nvSpPr>
          <p:cNvPr id="5" name="TextBox 5"/>
          <p:cNvSpPr txBox="1"/>
          <p:nvPr/>
        </p:nvSpPr>
        <p:spPr>
          <a:xfrm>
            <a:off x="1302355" y="8964930"/>
            <a:ext cx="8457083" cy="293370"/>
          </a:xfrm>
          <a:prstGeom prst="rect">
            <a:avLst/>
          </a:prstGeom>
        </p:spPr>
        <p:txBody>
          <a:bodyPr lIns="0" tIns="0" rIns="0" bIns="0" rtlCol="0" anchor="t">
            <a:spAutoFit/>
          </a:bodyPr>
          <a:lstStyle/>
          <a:p>
            <a:pPr algn="just">
              <a:lnSpc>
                <a:spcPts val="2310"/>
              </a:lnSpc>
            </a:pPr>
            <a:r>
              <a:rPr lang="en-US" sz="2100" dirty="0">
                <a:solidFill>
                  <a:srgbClr val="0B1320"/>
                </a:solidFill>
                <a:latin typeface="Inter"/>
                <a:ea typeface="Inter"/>
                <a:cs typeface="Inter"/>
                <a:sym typeface="Inter"/>
              </a:rPr>
              <a:t>Student ID: </a:t>
            </a:r>
            <a:r>
              <a:rPr lang="en-US" sz="2100" b="1" dirty="0">
                <a:solidFill>
                  <a:srgbClr val="0B1320"/>
                </a:solidFill>
                <a:latin typeface="Inter"/>
                <a:ea typeface="Inter"/>
                <a:cs typeface="Inter"/>
                <a:sym typeface="Inter"/>
              </a:rPr>
              <a:t>24MSCSCPY005</a:t>
            </a:r>
          </a:p>
        </p:txBody>
      </p:sp>
      <p:sp>
        <p:nvSpPr>
          <p:cNvPr id="6" name="TextBox 6"/>
          <p:cNvSpPr txBox="1"/>
          <p:nvPr/>
        </p:nvSpPr>
        <p:spPr>
          <a:xfrm>
            <a:off x="9147689" y="1294086"/>
            <a:ext cx="2484104" cy="692497"/>
          </a:xfrm>
          <a:prstGeom prst="rect">
            <a:avLst/>
          </a:prstGeom>
        </p:spPr>
        <p:txBody>
          <a:bodyPr lIns="0" tIns="0" rIns="0" bIns="0" rtlCol="0" anchor="t">
            <a:spAutoFit/>
          </a:bodyPr>
          <a:lstStyle/>
          <a:p>
            <a:pPr algn="l">
              <a:lnSpc>
                <a:spcPts val="2716"/>
              </a:lnSpc>
            </a:pPr>
            <a:r>
              <a:rPr lang="en-US" sz="2800" b="1" dirty="0">
                <a:solidFill>
                  <a:srgbClr val="1C3F60"/>
                </a:solidFill>
                <a:latin typeface="Inter Bold"/>
                <a:ea typeface="Inter Bold"/>
                <a:cs typeface="Inter Bold"/>
                <a:sym typeface="Inter Bold"/>
              </a:rPr>
              <a:t>Pondicherry University</a:t>
            </a:r>
          </a:p>
        </p:txBody>
      </p:sp>
      <p:sp>
        <p:nvSpPr>
          <p:cNvPr id="7" name="AutoShape 7"/>
          <p:cNvSpPr/>
          <p:nvPr/>
        </p:nvSpPr>
        <p:spPr>
          <a:xfrm>
            <a:off x="4535422" y="6406057"/>
            <a:ext cx="9217156" cy="0"/>
          </a:xfrm>
          <a:prstGeom prst="line">
            <a:avLst/>
          </a:prstGeom>
          <a:ln w="38100" cap="flat">
            <a:solidFill>
              <a:srgbClr val="345C72">
                <a:alpha val="60000"/>
              </a:srgbClr>
            </a:solidFill>
            <a:prstDash val="solid"/>
            <a:headEnd type="none" w="sm" len="sm"/>
            <a:tailEnd type="none" w="sm" len="sm"/>
          </a:ln>
        </p:spPr>
      </p:sp>
      <p:sp>
        <p:nvSpPr>
          <p:cNvPr id="8" name="TextBox 8"/>
          <p:cNvSpPr txBox="1"/>
          <p:nvPr/>
        </p:nvSpPr>
        <p:spPr>
          <a:xfrm>
            <a:off x="1302355" y="4128593"/>
            <a:ext cx="15683290" cy="1928590"/>
          </a:xfrm>
          <a:prstGeom prst="rect">
            <a:avLst/>
          </a:prstGeom>
        </p:spPr>
        <p:txBody>
          <a:bodyPr lIns="0" tIns="0" rIns="0" bIns="0" rtlCol="0" anchor="t">
            <a:spAutoFit/>
          </a:bodyPr>
          <a:lstStyle/>
          <a:p>
            <a:pPr algn="ctr">
              <a:lnSpc>
                <a:spcPts val="14428"/>
              </a:lnSpc>
            </a:pPr>
            <a:r>
              <a:rPr lang="en-US" sz="14428" b="1">
                <a:solidFill>
                  <a:srgbClr val="1C3F60"/>
                </a:solidFill>
                <a:latin typeface="Inter Medium"/>
                <a:ea typeface="Inter Medium"/>
                <a:cs typeface="Inter Medium"/>
                <a:sym typeface="Inter Medium"/>
              </a:rPr>
              <a:t>Thank You</a:t>
            </a:r>
          </a:p>
        </p:txBody>
      </p:sp>
      <p:pic>
        <p:nvPicPr>
          <p:cNvPr id="10" name="Picture 9" descr="Rajiv Gandhi Ayurveda Medical College &amp; Hospital">
            <a:extLst>
              <a:ext uri="{FF2B5EF4-FFF2-40B4-BE49-F238E27FC236}">
                <a16:creationId xmlns:a16="http://schemas.microsoft.com/office/drawing/2014/main" id="{5D3E31C1-1E00-2BCC-DA32-B5F2B21DB119}"/>
              </a:ext>
            </a:extLst>
          </p:cNvPr>
          <p:cNvPicPr>
            <a:picLocks noChangeAspect="1"/>
          </p:cNvPicPr>
          <p:nvPr/>
        </p:nvPicPr>
        <p:blipFill>
          <a:blip r:embed="rId3"/>
          <a:stretch>
            <a:fillRect/>
          </a:stretch>
        </p:blipFill>
        <p:spPr>
          <a:xfrm>
            <a:off x="6427657" y="1028699"/>
            <a:ext cx="2484103" cy="136165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2172</Words>
  <Application>Microsoft Office PowerPoint</Application>
  <PresentationFormat>Custom</PresentationFormat>
  <Paragraphs>147</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Inter Medium</vt:lpstr>
      <vt:lpstr>Arial</vt:lpstr>
      <vt:lpstr>Inter Bold Italics</vt:lpstr>
      <vt:lpstr>Calibri</vt:lpstr>
      <vt:lpstr>Cambria Math</vt:lpstr>
      <vt:lpstr>Inter Bold</vt:lpstr>
      <vt:lpstr>Inter</vt:lpstr>
      <vt:lpstr>Inter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White and Grey Modern Thesis Defense Presentation</dc:title>
  <cp:lastModifiedBy>BITAN MAJUMDER</cp:lastModifiedBy>
  <cp:revision>8</cp:revision>
  <dcterms:created xsi:type="dcterms:W3CDTF">2006-08-16T00:00:00Z</dcterms:created>
  <dcterms:modified xsi:type="dcterms:W3CDTF">2026-02-20T16:05:19Z</dcterms:modified>
  <dc:identifier>DAHBybZyZL0</dc:identifier>
</cp:coreProperties>
</file>